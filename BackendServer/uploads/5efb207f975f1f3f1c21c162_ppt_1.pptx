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strictFirstAndLastChars="0" saveSubsetFonts="1">
  <p:sldMasterIdLst>
    <p:sldMasterId id="2147483649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 sz="1100"/>
            </a:lvl1pPr>
            <a:lvl2pPr lvl="1" rtl="0">
              <a:spcBef>
                <a:spcPts val="0"/>
              </a:spcBef>
              <a:defRPr sz="1100"/>
            </a:lvl2pPr>
            <a:lvl3pPr lvl="2" rtl="0">
              <a:spcBef>
                <a:spcPts val="0"/>
              </a:spcBef>
              <a:defRPr sz="1100"/>
            </a:lvl3pPr>
            <a:lvl4pPr lvl="3" rtl="0">
              <a:spcBef>
                <a:spcPts val="0"/>
              </a:spcBef>
              <a:defRPr sz="1100"/>
            </a:lvl4pPr>
            <a:lvl5pPr lvl="4" rtl="0">
              <a:spcBef>
                <a:spcPts val="0"/>
              </a:spcBef>
              <a:defRPr sz="1100"/>
            </a:lvl5pPr>
            <a:lvl6pPr lvl="5" rtl="0">
              <a:spcBef>
                <a:spcPts val="0"/>
              </a:spcBef>
              <a:defRPr sz="1100"/>
            </a:lvl6pPr>
            <a:lvl7pPr lvl="6" rtl="0">
              <a:spcBef>
                <a:spcPts val="0"/>
              </a:spcBef>
              <a:defRPr sz="1100"/>
            </a:lvl7pPr>
            <a:lvl8pPr lvl="7" rtl="0">
              <a:spcBef>
                <a:spcPts val="0"/>
              </a:spcBef>
              <a:defRPr sz="1100"/>
            </a:lvl8pPr>
            <a:lvl9pPr lvl="8" rtl="0">
              <a:spcBef>
                <a:spcPts val="0"/>
              </a:spcBef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5" name="Shape 25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1" name="Shape 31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9" name="Shape 39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6" name="Shape 46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2" name="Shape 52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8" name="Shape 58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4" name="Shape 64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3" name="Shape 73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85" name="Shape 85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1" name="Shape 91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00" name="Shape 100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06" name="Shape 106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22" name="Shape 122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36" name="Shape 136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45" name="Shape 145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51" name="Shape 151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58" name="Shape 158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65" name="Shape 165"/>
          <p:cNvSpPr/>
          <p:nvPr>
            <p:ph idx="2" type="sldImg"/>
          </p:nvPr>
        </p:nvSpPr>
        <p:spPr>
          <a:xfrm>
            <a:off x="1524300" y="514350"/>
            <a:ext cx="6096300" cy="25716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 txBox="1"/>
          <p:nvPr>
            <p:ph type="title"/>
          </p:nvPr>
        </p:nvSpPr>
        <p:spPr>
          <a:xfrm>
            <a:off x="377666" y="427735"/>
            <a:ext cx="6798000" cy="17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rt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rt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rt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rt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457200" rt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914400" rt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1371600" rt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1828800" rt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" name="Shape 13"/>
          <p:cNvSpPr txBox="1"/>
          <p:nvPr>
            <p:ph idx="1" type="body"/>
          </p:nvPr>
        </p:nvSpPr>
        <p:spPr>
          <a:xfrm>
            <a:off x="377666" y="2459482"/>
            <a:ext cx="6798000" cy="70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rtl="0" algn="l">
              <a:spcBef>
                <a:spcPts val="360"/>
              </a:spcBef>
              <a:spcAft>
                <a:spcPts val="0"/>
              </a:spcAft>
              <a:buNone/>
              <a:defRPr/>
            </a:lvl1pPr>
            <a:lvl2pPr indent="0" lvl="1" marL="457200" rtl="0" algn="l">
              <a:spcBef>
                <a:spcPts val="360"/>
              </a:spcBef>
              <a:spcAft>
                <a:spcPts val="0"/>
              </a:spcAft>
              <a:buNone/>
              <a:defRPr/>
            </a:lvl2pPr>
            <a:lvl3pPr indent="0" lvl="2" marL="914400" rtl="0" algn="l">
              <a:spcBef>
                <a:spcPts val="360"/>
              </a:spcBef>
              <a:spcAft>
                <a:spcPts val="0"/>
              </a:spcAft>
              <a:buNone/>
              <a:defRPr/>
            </a:lvl3pPr>
            <a:lvl4pPr indent="0" lvl="3" marL="1371600" rtl="0" algn="l">
              <a:spcBef>
                <a:spcPts val="360"/>
              </a:spcBef>
              <a:spcAft>
                <a:spcPts val="0"/>
              </a:spcAft>
              <a:buNone/>
              <a:defRPr/>
            </a:lvl4pPr>
            <a:lvl5pPr indent="0" lvl="4" marL="1828800" rtl="0" algn="l">
              <a:spcBef>
                <a:spcPts val="360"/>
              </a:spcBef>
              <a:spcAft>
                <a:spcPts val="0"/>
              </a:spcAft>
              <a:buNone/>
              <a:defRPr/>
            </a:lvl5pPr>
            <a:lvl6pPr indent="0" lvl="5" marL="2286000" rtl="0" algn="l">
              <a:spcBef>
                <a:spcPts val="360"/>
              </a:spcBef>
              <a:spcAft>
                <a:spcPts val="0"/>
              </a:spcAft>
              <a:buNone/>
              <a:defRPr/>
            </a:lvl6pPr>
            <a:lvl7pPr indent="0" lvl="6" marL="2743200" rtl="0" algn="l">
              <a:spcBef>
                <a:spcPts val="360"/>
              </a:spcBef>
              <a:spcAft>
                <a:spcPts val="0"/>
              </a:spcAft>
              <a:buNone/>
              <a:defRPr/>
            </a:lvl7pPr>
            <a:lvl8pPr indent="0" lvl="7" marL="3200400" rtl="0" algn="l">
              <a:spcBef>
                <a:spcPts val="360"/>
              </a:spcBef>
              <a:spcAft>
                <a:spcPts val="0"/>
              </a:spcAft>
              <a:buNone/>
              <a:defRPr/>
            </a:lvl8pPr>
            <a:lvl9pPr indent="0" lvl="8" marL="3657600" rtl="0" algn="l">
              <a:spcBef>
                <a:spcPts val="36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" name="Shape 14"/>
          <p:cNvSpPr txBox="1"/>
          <p:nvPr>
            <p:ph idx="12" type="sldNum"/>
          </p:nvPr>
        </p:nvSpPr>
        <p:spPr>
          <a:xfrm>
            <a:off x="5438775" y="9944100"/>
            <a:ext cx="17367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id="15" name="Shape 15"/>
          <p:cNvSpPr txBox="1"/>
          <p:nvPr>
            <p:ph idx="10" type="dt"/>
          </p:nvPr>
        </p:nvSpPr>
        <p:spPr>
          <a:xfrm>
            <a:off x="377825" y="9944100"/>
            <a:ext cx="17367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4572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640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6" name="Shape 16"/>
          <p:cNvSpPr txBox="1"/>
          <p:nvPr>
            <p:ph idx="11" type="ftr"/>
          </p:nvPr>
        </p:nvSpPr>
        <p:spPr>
          <a:xfrm>
            <a:off x="2568575" y="9944100"/>
            <a:ext cx="24177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4572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640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77825" y="427036"/>
            <a:ext cx="6797700" cy="1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ctr">
              <a:spcBef>
                <a:spcPts val="0"/>
              </a:spcBef>
              <a:spcAft>
                <a:spcPts val="0"/>
              </a:spcAft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ctr">
              <a:spcBef>
                <a:spcPts val="0"/>
              </a:spcBef>
              <a:spcAft>
                <a:spcPts val="0"/>
              </a:spcAft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ctr">
              <a:spcBef>
                <a:spcPts val="0"/>
              </a:spcBef>
              <a:spcAft>
                <a:spcPts val="0"/>
              </a:spcAft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ctr">
              <a:spcBef>
                <a:spcPts val="0"/>
              </a:spcBef>
              <a:spcAft>
                <a:spcPts val="0"/>
              </a:spcAft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77825" y="2459036"/>
            <a:ext cx="6797700" cy="70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64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64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64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64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64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64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64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64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64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5438775" y="9944100"/>
            <a:ext cx="17367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id="9" name="Shape 9"/>
          <p:cNvSpPr txBox="1"/>
          <p:nvPr>
            <p:ph idx="10" type="dt"/>
          </p:nvPr>
        </p:nvSpPr>
        <p:spPr>
          <a:xfrm>
            <a:off x="377825" y="9944100"/>
            <a:ext cx="17367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Shape 10"/>
          <p:cNvSpPr txBox="1"/>
          <p:nvPr>
            <p:ph idx="11" type="ftr"/>
          </p:nvPr>
        </p:nvSpPr>
        <p:spPr>
          <a:xfrm>
            <a:off x="2568575" y="9944100"/>
            <a:ext cx="24177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/>
          <p:nvPr>
            <p:ph type="title"/>
          </p:nvPr>
        </p:nvSpPr>
        <p:spPr>
          <a:xfrm>
            <a:off x="377825" y="427036"/>
            <a:ext cx="6797700" cy="1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ctr">
              <a:spcBef>
                <a:spcPts val="0"/>
              </a:spcBef>
              <a:spcAft>
                <a:spcPts val="0"/>
              </a:spcAft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ctr">
              <a:spcBef>
                <a:spcPts val="0"/>
              </a:spcBef>
              <a:spcAft>
                <a:spcPts val="0"/>
              </a:spcAft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ctr">
              <a:spcBef>
                <a:spcPts val="0"/>
              </a:spcBef>
              <a:spcAft>
                <a:spcPts val="0"/>
              </a:spcAft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ctr">
              <a:spcBef>
                <a:spcPts val="0"/>
              </a:spcBef>
              <a:spcAft>
                <a:spcPts val="0"/>
              </a:spcAft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Shape 19"/>
          <p:cNvSpPr txBox="1"/>
          <p:nvPr>
            <p:ph idx="1" type="body"/>
          </p:nvPr>
        </p:nvSpPr>
        <p:spPr>
          <a:xfrm>
            <a:off x="377825" y="2459036"/>
            <a:ext cx="6797700" cy="70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64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64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64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64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64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64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64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64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64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Shape 20"/>
          <p:cNvSpPr txBox="1"/>
          <p:nvPr>
            <p:ph idx="11" type="ftr"/>
          </p:nvPr>
        </p:nvSpPr>
        <p:spPr>
          <a:xfrm>
            <a:off x="2568575" y="9944100"/>
            <a:ext cx="24177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Shape 21"/>
          <p:cNvSpPr txBox="1"/>
          <p:nvPr>
            <p:ph idx="10" type="dt"/>
          </p:nvPr>
        </p:nvSpPr>
        <p:spPr>
          <a:xfrm>
            <a:off x="377825" y="9944100"/>
            <a:ext cx="17367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Shape 22"/>
          <p:cNvSpPr txBox="1"/>
          <p:nvPr>
            <p:ph idx="12" type="sldNum"/>
          </p:nvPr>
        </p:nvSpPr>
        <p:spPr>
          <a:xfrm>
            <a:off x="5438775" y="9944100"/>
            <a:ext cx="17367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Shape 28"/>
          <p:cNvSpPr txBox="1"/>
          <p:nvPr/>
        </p:nvSpPr>
        <p:spPr>
          <a:xfrm>
            <a:off x="1854200" y="2930525"/>
            <a:ext cx="6040500" cy="1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4814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Trebuchet MS"/>
              <a:buNone/>
            </a:pPr>
            <a:r>
              <a:rPr b="1" i="1" lang="en-US" sz="5400" u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Applets in Java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Shape 34"/>
          <p:cNvSpPr txBox="1"/>
          <p:nvPr/>
        </p:nvSpPr>
        <p:spPr>
          <a:xfrm>
            <a:off x="549275" y="669925"/>
            <a:ext cx="9255000" cy="23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152400" marR="0" rtl="0" algn="l">
              <a:lnSpc>
                <a:spcPct val="113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Trebuchet MS"/>
              <a:buNone/>
            </a:pPr>
            <a:r>
              <a:rPr b="1" i="0" lang="en-US" sz="3600" u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</a:t>
            </a:r>
          </a:p>
          <a:p>
            <a:pPr indent="0" lvl="0" marL="152400" marR="0" rtl="0" algn="l">
              <a:lnSpc>
                <a:spcPct val="114285"/>
              </a:lnSpc>
              <a:spcBef>
                <a:spcPts val="40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22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22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Applet is small java program that can be easily</a:t>
            </a:r>
          </a:p>
          <a:p>
            <a:pPr indent="0" lvl="0" marL="1524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25000"/>
              <a:buFont typeface="Trebuchet MS"/>
              <a:buNone/>
            </a:pP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transported over the network from one</a:t>
            </a:r>
          </a:p>
          <a:p>
            <a:pPr indent="0" lvl="0" marL="1524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25000"/>
              <a:buFont typeface="Trebuchet MS"/>
              <a:buNone/>
            </a:pP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computer to other.</a:t>
            </a:r>
          </a:p>
        </p:txBody>
      </p:sp>
      <p:sp>
        <p:nvSpPr>
          <p:cNvPr id="35" name="Shape 35"/>
          <p:cNvSpPr txBox="1"/>
          <p:nvPr/>
        </p:nvSpPr>
        <p:spPr>
          <a:xfrm>
            <a:off x="549275" y="2514600"/>
            <a:ext cx="57897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22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22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used in internet applications.</a:t>
            </a:r>
          </a:p>
        </p:txBody>
      </p:sp>
      <p:sp>
        <p:nvSpPr>
          <p:cNvPr id="36" name="Shape 36"/>
          <p:cNvSpPr txBox="1"/>
          <p:nvPr/>
        </p:nvSpPr>
        <p:spPr>
          <a:xfrm>
            <a:off x="549275" y="3024186"/>
            <a:ext cx="9253500" cy="1712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11112" lvl="0" marL="341312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22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22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embedded in an html page, can be downloaded</a:t>
            </a:r>
          </a:p>
          <a:p>
            <a:pPr indent="-11112" lvl="0" marL="341312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25000"/>
              <a:buFont typeface="Trebuchet MS"/>
              <a:buNone/>
            </a:pP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from the server and run on the client, so as to</a:t>
            </a:r>
          </a:p>
          <a:p>
            <a:pPr indent="-11112" lvl="0" marL="341312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25000"/>
              <a:buFont typeface="Trebuchet MS"/>
              <a:buNone/>
            </a:pPr>
            <a:r>
              <a:rPr b="0" i="0" lang="en-US" sz="2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do a specific kind of job.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Shape 42"/>
          <p:cNvSpPr txBox="1"/>
          <p:nvPr/>
        </p:nvSpPr>
        <p:spPr>
          <a:xfrm>
            <a:off x="701675" y="669925"/>
            <a:ext cx="64992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3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Trebuchet MS"/>
              <a:buNone/>
            </a:pPr>
            <a:r>
              <a:rPr b="1" i="0" lang="en-US" sz="3600" u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Types of Java Programmes</a:t>
            </a:r>
          </a:p>
        </p:txBody>
      </p:sp>
      <p:sp>
        <p:nvSpPr>
          <p:cNvPr id="43" name="Shape 43"/>
          <p:cNvSpPr txBox="1"/>
          <p:nvPr/>
        </p:nvSpPr>
        <p:spPr>
          <a:xfrm>
            <a:off x="701675" y="2214562"/>
            <a:ext cx="1811400" cy="10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4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Standalone</a:t>
            </a:r>
          </a:p>
          <a:p>
            <a:pPr indent="0" lvl="0" marL="0" marR="0" rtl="0" algn="l">
              <a:lnSpc>
                <a:spcPct val="111111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4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Web based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Shape 49"/>
          <p:cNvSpPr txBox="1"/>
          <p:nvPr/>
        </p:nvSpPr>
        <p:spPr>
          <a:xfrm>
            <a:off x="1933575" y="365125"/>
            <a:ext cx="6256200" cy="14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590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Trebuchet MS"/>
              <a:buNone/>
            </a:pPr>
            <a:r>
              <a:rPr b="1" i="0" lang="en-US" sz="4400" u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Stand Alone Program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Shape 55"/>
          <p:cNvSpPr txBox="1"/>
          <p:nvPr/>
        </p:nvSpPr>
        <p:spPr>
          <a:xfrm>
            <a:off x="701675" y="669925"/>
            <a:ext cx="49275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3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Trebuchet MS"/>
              <a:buNone/>
            </a:pPr>
            <a:r>
              <a:rPr b="1" i="0" lang="en-US" sz="3600" u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Web-Based Program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 txBox="1"/>
          <p:nvPr/>
        </p:nvSpPr>
        <p:spPr>
          <a:xfrm>
            <a:off x="0" y="357187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Shape 61"/>
          <p:cNvSpPr txBox="1"/>
          <p:nvPr/>
        </p:nvSpPr>
        <p:spPr>
          <a:xfrm>
            <a:off x="701675" y="673100"/>
            <a:ext cx="6270600" cy="19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Trebuchet MS"/>
              <a:buNone/>
            </a:pPr>
            <a:r>
              <a:rPr b="1" i="0" lang="en-US" sz="4000" u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Difference between an</a:t>
            </a:r>
          </a:p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Trebuchet MS"/>
              <a:buNone/>
            </a:pPr>
            <a:r>
              <a:rPr b="1" i="0" lang="en-US" sz="4000" u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applet and application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Shape 67"/>
          <p:cNvSpPr txBox="1"/>
          <p:nvPr/>
        </p:nvSpPr>
        <p:spPr>
          <a:xfrm>
            <a:off x="701675" y="669925"/>
            <a:ext cx="37242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3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Trebuchet MS"/>
              <a:buNone/>
            </a:pPr>
            <a:r>
              <a:rPr b="1" i="0" lang="en-US" sz="3600" u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APPLET CLASS</a:t>
            </a:r>
          </a:p>
        </p:txBody>
      </p:sp>
      <p:sp>
        <p:nvSpPr>
          <p:cNvPr id="68" name="Shape 68"/>
          <p:cNvSpPr txBox="1"/>
          <p:nvPr/>
        </p:nvSpPr>
        <p:spPr>
          <a:xfrm>
            <a:off x="549275" y="1473200"/>
            <a:ext cx="4432200" cy="15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11112" lvl="0" marL="341312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9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9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java.applet.Applet </a:t>
            </a:r>
            <a:r>
              <a:rPr b="0" i="0" lang="en-US" sz="24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is the</a:t>
            </a:r>
          </a:p>
          <a:p>
            <a:pPr indent="-11112" lvl="0" marL="341312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25000"/>
              <a:buFont typeface="Trebuchet MS"/>
              <a:buNone/>
            </a:pPr>
            <a:r>
              <a:rPr b="0" i="0" lang="en-US" sz="24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super class of the all the</a:t>
            </a:r>
          </a:p>
          <a:p>
            <a:pPr indent="-11112" lvl="0" marL="341312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25000"/>
              <a:buFont typeface="Trebuchet MS"/>
              <a:buNone/>
            </a:pPr>
            <a:r>
              <a:rPr b="0" i="0" lang="en-US" sz="24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applets.</a:t>
            </a:r>
          </a:p>
        </p:txBody>
      </p:sp>
      <p:sp>
        <p:nvSpPr>
          <p:cNvPr id="69" name="Shape 69"/>
          <p:cNvSpPr txBox="1"/>
          <p:nvPr/>
        </p:nvSpPr>
        <p:spPr>
          <a:xfrm>
            <a:off x="549275" y="2697162"/>
            <a:ext cx="4434000" cy="804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9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9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Applet class has a</a:t>
            </a:r>
          </a:p>
        </p:txBody>
      </p:sp>
      <p:sp>
        <p:nvSpPr>
          <p:cNvPr id="70" name="Shape 70"/>
          <p:cNvSpPr txBox="1"/>
          <p:nvPr/>
        </p:nvSpPr>
        <p:spPr>
          <a:xfrm>
            <a:off x="892175" y="3062286"/>
            <a:ext cx="3329100" cy="811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25000"/>
              <a:buFont typeface="Trebuchet MS"/>
              <a:buNone/>
            </a:pPr>
            <a:r>
              <a:rPr b="0" i="0" lang="en-US" sz="24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predefined hierarchy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Shape 76"/>
          <p:cNvSpPr txBox="1"/>
          <p:nvPr/>
        </p:nvSpPr>
        <p:spPr>
          <a:xfrm>
            <a:off x="701675" y="669925"/>
            <a:ext cx="40386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3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Trebuchet MS"/>
              <a:buNone/>
            </a:pPr>
            <a:r>
              <a:rPr b="1" i="0" lang="en-US" sz="3600" u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Applet Example</a:t>
            </a:r>
          </a:p>
        </p:txBody>
      </p:sp>
      <p:sp>
        <p:nvSpPr>
          <p:cNvPr id="77" name="Shape 77"/>
          <p:cNvSpPr txBox="1"/>
          <p:nvPr/>
        </p:nvSpPr>
        <p:spPr>
          <a:xfrm>
            <a:off x="892175" y="1274762"/>
            <a:ext cx="3370200" cy="811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25000"/>
              <a:buFont typeface="Trebuchet MS"/>
              <a:buNone/>
            </a:pPr>
            <a:r>
              <a:rPr b="0" i="0" lang="en-US" sz="24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import java.applet.*;</a:t>
            </a:r>
          </a:p>
        </p:txBody>
      </p:sp>
      <p:sp>
        <p:nvSpPr>
          <p:cNvPr id="78" name="Shape 78"/>
          <p:cNvSpPr txBox="1"/>
          <p:nvPr/>
        </p:nvSpPr>
        <p:spPr>
          <a:xfrm>
            <a:off x="892175" y="1766887"/>
            <a:ext cx="30021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25000"/>
              <a:buFont typeface="Trebuchet MS"/>
              <a:buNone/>
            </a:pPr>
            <a:r>
              <a:rPr b="0" i="0" lang="en-US" sz="24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import java.awt.*;</a:t>
            </a:r>
          </a:p>
        </p:txBody>
      </p:sp>
      <p:sp>
        <p:nvSpPr>
          <p:cNvPr id="79" name="Shape 79"/>
          <p:cNvSpPr txBox="1"/>
          <p:nvPr/>
        </p:nvSpPr>
        <p:spPr>
          <a:xfrm>
            <a:off x="892175" y="2260600"/>
            <a:ext cx="63501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25000"/>
              <a:buFont typeface="Trebuchet MS"/>
              <a:buNone/>
            </a:pPr>
            <a:r>
              <a:rPr b="0" i="0" lang="en-US" sz="24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class FirstApplet extends Applet {</a:t>
            </a:r>
          </a:p>
        </p:txBody>
      </p:sp>
      <p:sp>
        <p:nvSpPr>
          <p:cNvPr id="80" name="Shape 80"/>
          <p:cNvSpPr txBox="1"/>
          <p:nvPr/>
        </p:nvSpPr>
        <p:spPr>
          <a:xfrm>
            <a:off x="892175" y="2752725"/>
            <a:ext cx="47832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25000"/>
              <a:buFont typeface="Trebuchet MS"/>
              <a:buNone/>
            </a:pPr>
            <a:r>
              <a:rPr b="0" i="0" lang="en-US" sz="24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void paint(Graphics g) {</a:t>
            </a:r>
          </a:p>
        </p:txBody>
      </p:sp>
      <p:sp>
        <p:nvSpPr>
          <p:cNvPr id="81" name="Shape 81"/>
          <p:cNvSpPr txBox="1"/>
          <p:nvPr/>
        </p:nvSpPr>
        <p:spPr>
          <a:xfrm>
            <a:off x="892175" y="3244850"/>
            <a:ext cx="68199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25000"/>
              <a:buFont typeface="Trebuchet MS"/>
              <a:buNone/>
            </a:pPr>
            <a:r>
              <a:rPr b="0" i="0" lang="en-US" sz="24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g.drawString(“Welcome in Applets”,10,50);</a:t>
            </a:r>
          </a:p>
        </p:txBody>
      </p:sp>
      <p:sp>
        <p:nvSpPr>
          <p:cNvPr id="82" name="Shape 82"/>
          <p:cNvSpPr txBox="1"/>
          <p:nvPr/>
        </p:nvSpPr>
        <p:spPr>
          <a:xfrm>
            <a:off x="892175" y="3740150"/>
            <a:ext cx="568200" cy="13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25000"/>
              <a:buFont typeface="Trebuchet MS"/>
              <a:buNone/>
            </a:pPr>
            <a:r>
              <a:rPr b="0" i="0" lang="en-US" sz="24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</a:p>
          <a:p>
            <a:pPr indent="0" lvl="0" marL="0" marR="0" rtl="0" algn="l">
              <a:lnSpc>
                <a:spcPct val="1125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ct val="25000"/>
              <a:buFont typeface="Trebuchet MS"/>
              <a:buNone/>
            </a:pPr>
            <a:r>
              <a:rPr b="0" i="0" lang="en-US" sz="24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Shape 88"/>
          <p:cNvSpPr txBox="1"/>
          <p:nvPr/>
        </p:nvSpPr>
        <p:spPr>
          <a:xfrm>
            <a:off x="701675" y="669925"/>
            <a:ext cx="30114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3888"/>
              </a:lnSpc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Trebuchet MS"/>
              <a:buNone/>
            </a:pPr>
            <a:r>
              <a:rPr b="0" i="0" lang="en-US" sz="3600" u="none">
                <a:solidFill>
                  <a:srgbClr val="90C226"/>
                </a:solidFill>
                <a:latin typeface="Trebuchet MS"/>
                <a:ea typeface="Trebuchet MS"/>
                <a:cs typeface="Trebuchet MS"/>
                <a:sym typeface="Trebuchet MS"/>
              </a:rPr>
              <a:t>The Output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Shape 94"/>
          <p:cNvSpPr txBox="1"/>
          <p:nvPr/>
        </p:nvSpPr>
        <p:spPr>
          <a:xfrm>
            <a:off x="549275" y="669925"/>
            <a:ext cx="9252000" cy="20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152400" marR="0" rtl="0" algn="l">
              <a:lnSpc>
                <a:spcPct val="113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Trebuchet MS"/>
              <a:buNone/>
            </a:pPr>
            <a:r>
              <a:rPr b="1" i="0" lang="en-US" sz="3600" u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Applet Life cycle</a:t>
            </a:r>
          </a:p>
          <a:p>
            <a:pPr indent="0" lvl="0" marL="1524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9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9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An applet may move from one state to another</a:t>
            </a:r>
          </a:p>
          <a:p>
            <a:pPr indent="0" lvl="0" marL="1524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25000"/>
              <a:buFont typeface="Trebuchet MS"/>
              <a:buNone/>
            </a:pPr>
            <a:r>
              <a:rPr b="0" i="0" lang="en-US" sz="24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depending upon a set of default behaviours inherited in</a:t>
            </a:r>
          </a:p>
          <a:p>
            <a:pPr indent="0" lvl="0" marL="1524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25000"/>
              <a:buFont typeface="Trebuchet MS"/>
              <a:buNone/>
            </a:pPr>
            <a:r>
              <a:rPr b="0" i="0" lang="en-US" sz="24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the form of methods from ‘Applet’ class.</a:t>
            </a:r>
          </a:p>
        </p:txBody>
      </p:sp>
      <p:sp>
        <p:nvSpPr>
          <p:cNvPr id="95" name="Shape 95"/>
          <p:cNvSpPr txBox="1"/>
          <p:nvPr/>
        </p:nvSpPr>
        <p:spPr>
          <a:xfrm>
            <a:off x="549275" y="2392362"/>
            <a:ext cx="2995500" cy="1193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4572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9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9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These states are</a:t>
            </a:r>
          </a:p>
          <a:p>
            <a:pPr indent="0" lvl="0" marL="4572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6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6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000" u="none">
                <a:solidFill>
                  <a:srgbClr val="212D32"/>
                </a:solidFill>
                <a:latin typeface="Trebuchet MS"/>
                <a:ea typeface="Trebuchet MS"/>
                <a:cs typeface="Trebuchet MS"/>
                <a:sym typeface="Trebuchet MS"/>
              </a:rPr>
              <a:t>Born</a:t>
            </a:r>
          </a:p>
        </p:txBody>
      </p:sp>
      <p:sp>
        <p:nvSpPr>
          <p:cNvPr id="96" name="Shape 96"/>
          <p:cNvSpPr txBox="1"/>
          <p:nvPr/>
        </p:nvSpPr>
        <p:spPr>
          <a:xfrm>
            <a:off x="1006475" y="3316287"/>
            <a:ext cx="16176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6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6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000" u="none">
                <a:solidFill>
                  <a:srgbClr val="212D32"/>
                </a:solidFill>
                <a:latin typeface="Trebuchet MS"/>
                <a:ea typeface="Trebuchet MS"/>
                <a:cs typeface="Trebuchet MS"/>
                <a:sym typeface="Trebuchet MS"/>
              </a:rPr>
              <a:t>Running</a:t>
            </a: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6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6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000" u="none">
                <a:solidFill>
                  <a:srgbClr val="212D32"/>
                </a:solidFill>
                <a:latin typeface="Trebuchet MS"/>
                <a:ea typeface="Trebuchet MS"/>
                <a:cs typeface="Trebuchet MS"/>
                <a:sym typeface="Trebuchet MS"/>
              </a:rPr>
              <a:t>Idle</a:t>
            </a:r>
          </a:p>
        </p:txBody>
      </p:sp>
      <p:sp>
        <p:nvSpPr>
          <p:cNvPr id="97" name="Shape 97"/>
          <p:cNvSpPr txBox="1"/>
          <p:nvPr/>
        </p:nvSpPr>
        <p:spPr>
          <a:xfrm>
            <a:off x="1006475" y="4178300"/>
            <a:ext cx="12462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6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6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000" u="none">
                <a:solidFill>
                  <a:srgbClr val="212D32"/>
                </a:solidFill>
                <a:latin typeface="Trebuchet MS"/>
                <a:ea typeface="Trebuchet MS"/>
                <a:cs typeface="Trebuchet MS"/>
                <a:sym typeface="Trebuchet MS"/>
              </a:rPr>
              <a:t>Dead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Shape 103"/>
          <p:cNvSpPr txBox="1"/>
          <p:nvPr/>
        </p:nvSpPr>
        <p:spPr>
          <a:xfrm>
            <a:off x="701675" y="669925"/>
            <a:ext cx="51879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3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Trebuchet MS"/>
              <a:buNone/>
            </a:pPr>
            <a:r>
              <a:rPr b="1" i="0" lang="en-US" sz="3600" u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Applet State Diagram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Shape 109"/>
          <p:cNvSpPr txBox="1"/>
          <p:nvPr/>
        </p:nvSpPr>
        <p:spPr>
          <a:xfrm>
            <a:off x="549275" y="669925"/>
            <a:ext cx="4945200" cy="12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152400" marR="0" rtl="0" algn="l">
              <a:lnSpc>
                <a:spcPct val="113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Trebuchet MS"/>
              <a:buNone/>
            </a:pPr>
            <a:r>
              <a:rPr b="1" i="0" lang="en-US" sz="3600" u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Life cycle of Applet</a:t>
            </a:r>
          </a:p>
          <a:p>
            <a:pPr indent="0" lvl="0" marL="1524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6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6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000" u="none">
                <a:solidFill>
                  <a:srgbClr val="212D32"/>
                </a:solidFill>
                <a:latin typeface="Trebuchet MS"/>
                <a:ea typeface="Trebuchet MS"/>
                <a:cs typeface="Trebuchet MS"/>
                <a:sym typeface="Trebuchet MS"/>
              </a:rPr>
              <a:t>init() –</a:t>
            </a:r>
          </a:p>
        </p:txBody>
      </p:sp>
      <p:sp>
        <p:nvSpPr>
          <p:cNvPr id="110" name="Shape 110"/>
          <p:cNvSpPr txBox="1"/>
          <p:nvPr/>
        </p:nvSpPr>
        <p:spPr>
          <a:xfrm>
            <a:off x="1006475" y="1468437"/>
            <a:ext cx="6213600" cy="10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2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5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creates the objects needed by the applet;</a:t>
            </a:r>
          </a:p>
          <a:p>
            <a:pPr indent="0" lvl="0" marL="0" marR="0" rtl="0" algn="l">
              <a:lnSpc>
                <a:spcPct val="113333"/>
              </a:lnSpc>
              <a:spcBef>
                <a:spcPts val="30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2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5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sets up initial values, load font and images or set up colors.</a:t>
            </a:r>
          </a:p>
          <a:p>
            <a:pPr indent="0" lvl="0" marL="0" marR="0" rtl="0" algn="l">
              <a:lnSpc>
                <a:spcPct val="113333"/>
              </a:lnSpc>
              <a:spcBef>
                <a:spcPts val="30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2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5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called only once during the lifetime of on Applet.</a:t>
            </a:r>
          </a:p>
        </p:txBody>
      </p:sp>
      <p:sp>
        <p:nvSpPr>
          <p:cNvPr id="111" name="Shape 111"/>
          <p:cNvSpPr txBox="1"/>
          <p:nvPr/>
        </p:nvSpPr>
        <p:spPr>
          <a:xfrm>
            <a:off x="549275" y="2235200"/>
            <a:ext cx="1549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6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6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000" u="none">
                <a:solidFill>
                  <a:srgbClr val="212D32"/>
                </a:solidFill>
                <a:latin typeface="Trebuchet MS"/>
                <a:ea typeface="Trebuchet MS"/>
                <a:cs typeface="Trebuchet MS"/>
                <a:sym typeface="Trebuchet MS"/>
              </a:rPr>
              <a:t>start()-</a:t>
            </a:r>
          </a:p>
        </p:txBody>
      </p:sp>
      <p:sp>
        <p:nvSpPr>
          <p:cNvPr id="112" name="Shape 112"/>
          <p:cNvSpPr txBox="1"/>
          <p:nvPr/>
        </p:nvSpPr>
        <p:spPr>
          <a:xfrm>
            <a:off x="1006475" y="2571750"/>
            <a:ext cx="65817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2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5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moves to this phase automatically after the initialization state.</a:t>
            </a:r>
          </a:p>
        </p:txBody>
      </p:sp>
      <p:sp>
        <p:nvSpPr>
          <p:cNvPr id="113" name="Shape 113"/>
          <p:cNvSpPr txBox="1"/>
          <p:nvPr/>
        </p:nvSpPr>
        <p:spPr>
          <a:xfrm>
            <a:off x="1006475" y="2836862"/>
            <a:ext cx="8729700" cy="506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2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5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if the applet is stopped or it goes to idle state, start() method must be called in</a:t>
            </a:r>
          </a:p>
        </p:txBody>
      </p:sp>
      <p:sp>
        <p:nvSpPr>
          <p:cNvPr id="114" name="Shape 114"/>
          <p:cNvSpPr txBox="1"/>
          <p:nvPr/>
        </p:nvSpPr>
        <p:spPr>
          <a:xfrm>
            <a:off x="1292225" y="2973387"/>
            <a:ext cx="5165700" cy="506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25000"/>
              <a:buFont typeface="Trebuchet MS"/>
              <a:buNone/>
            </a:pPr>
            <a:r>
              <a:rPr b="0" i="0" lang="en-US" sz="15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order to force the applet again to the running state.</a:t>
            </a:r>
          </a:p>
        </p:txBody>
      </p:sp>
      <p:sp>
        <p:nvSpPr>
          <p:cNvPr id="115" name="Shape 115"/>
          <p:cNvSpPr txBox="1"/>
          <p:nvPr/>
        </p:nvSpPr>
        <p:spPr>
          <a:xfrm>
            <a:off x="549275" y="3211511"/>
            <a:ext cx="1681200" cy="668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6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6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000" u="none">
                <a:solidFill>
                  <a:srgbClr val="212D32"/>
                </a:solidFill>
                <a:latin typeface="Trebuchet MS"/>
                <a:ea typeface="Trebuchet MS"/>
                <a:cs typeface="Trebuchet MS"/>
                <a:sym typeface="Trebuchet MS"/>
              </a:rPr>
              <a:t>paint() -</a:t>
            </a:r>
          </a:p>
        </p:txBody>
      </p:sp>
      <p:sp>
        <p:nvSpPr>
          <p:cNvPr id="116" name="Shape 116"/>
          <p:cNvSpPr txBox="1"/>
          <p:nvPr/>
        </p:nvSpPr>
        <p:spPr>
          <a:xfrm>
            <a:off x="549275" y="3546475"/>
            <a:ext cx="84471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45720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2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5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This method is called each time to draw and redraw the output of an applet.</a:t>
            </a: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6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6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000" u="none">
                <a:solidFill>
                  <a:srgbClr val="212D32"/>
                </a:solidFill>
                <a:latin typeface="Trebuchet MS"/>
                <a:ea typeface="Trebuchet MS"/>
                <a:cs typeface="Trebuchet MS"/>
                <a:sym typeface="Trebuchet MS"/>
              </a:rPr>
              <a:t>stop</a:t>
            </a:r>
            <a:r>
              <a:rPr b="1" i="0" lang="en-US" sz="1500" u="none">
                <a:solidFill>
                  <a:srgbClr val="212D32"/>
                </a:solidFill>
                <a:latin typeface="Trebuchet MS"/>
                <a:ea typeface="Trebuchet MS"/>
                <a:cs typeface="Trebuchet MS"/>
                <a:sym typeface="Trebuchet MS"/>
              </a:rPr>
              <a:t>()-</a:t>
            </a:r>
          </a:p>
          <a:p>
            <a:pPr indent="0" lvl="0" marL="457200" marR="0" rtl="0" algn="l">
              <a:lnSpc>
                <a:spcPct val="113333"/>
              </a:lnSpc>
              <a:spcBef>
                <a:spcPts val="40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2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5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idle state, once it is stopped from running</a:t>
            </a: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6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6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000" u="none">
                <a:solidFill>
                  <a:srgbClr val="212D32"/>
                </a:solidFill>
                <a:latin typeface="Trebuchet MS"/>
                <a:ea typeface="Trebuchet MS"/>
                <a:cs typeface="Trebuchet MS"/>
                <a:sym typeface="Trebuchet MS"/>
              </a:rPr>
              <a:t>destroy</a:t>
            </a:r>
            <a:r>
              <a:rPr b="1" i="0" lang="en-US" sz="1500" u="none">
                <a:solidFill>
                  <a:srgbClr val="212D32"/>
                </a:solidFill>
                <a:latin typeface="Trebuchet MS"/>
                <a:ea typeface="Trebuchet MS"/>
                <a:cs typeface="Trebuchet MS"/>
                <a:sym typeface="Trebuchet MS"/>
              </a:rPr>
              <a:t>()-</a:t>
            </a:r>
          </a:p>
        </p:txBody>
      </p:sp>
      <p:sp>
        <p:nvSpPr>
          <p:cNvPr id="117" name="Shape 117"/>
          <p:cNvSpPr txBox="1"/>
          <p:nvPr/>
        </p:nvSpPr>
        <p:spPr>
          <a:xfrm>
            <a:off x="1006475" y="4695825"/>
            <a:ext cx="87282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2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5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An applet goes to dead state when it is destroyed by invoking the destroy() method</a:t>
            </a:r>
          </a:p>
        </p:txBody>
      </p:sp>
      <p:sp>
        <p:nvSpPr>
          <p:cNvPr id="118" name="Shape 118"/>
          <p:cNvSpPr txBox="1"/>
          <p:nvPr/>
        </p:nvSpPr>
        <p:spPr>
          <a:xfrm>
            <a:off x="1292225" y="4833937"/>
            <a:ext cx="15969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25000"/>
              <a:buFont typeface="Trebuchet MS"/>
              <a:buNone/>
            </a:pPr>
            <a:r>
              <a:rPr b="0" i="0" lang="en-US" sz="15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of Applet class.</a:t>
            </a:r>
          </a:p>
        </p:txBody>
      </p:sp>
      <p:sp>
        <p:nvSpPr>
          <p:cNvPr id="119" name="Shape 119"/>
          <p:cNvSpPr txBox="1"/>
          <p:nvPr/>
        </p:nvSpPr>
        <p:spPr>
          <a:xfrm>
            <a:off x="1006475" y="5097462"/>
            <a:ext cx="60849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2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2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5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It results in complete removal of applet from the memory.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Shape 125"/>
          <p:cNvSpPr txBox="1"/>
          <p:nvPr/>
        </p:nvSpPr>
        <p:spPr>
          <a:xfrm>
            <a:off x="701675" y="669925"/>
            <a:ext cx="44562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3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Trebuchet MS"/>
              <a:buNone/>
            </a:pPr>
            <a:r>
              <a:rPr b="1" i="0" lang="en-US" sz="3600" u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Common Methods</a:t>
            </a:r>
          </a:p>
        </p:txBody>
      </p:sp>
      <p:sp>
        <p:nvSpPr>
          <p:cNvPr id="126" name="Shape 126"/>
          <p:cNvSpPr txBox="1"/>
          <p:nvPr/>
        </p:nvSpPr>
        <p:spPr>
          <a:xfrm>
            <a:off x="549275" y="1011237"/>
            <a:ext cx="2273400" cy="6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6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6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000" u="none">
                <a:solidFill>
                  <a:srgbClr val="212D32"/>
                </a:solidFill>
                <a:latin typeface="Trebuchet MS"/>
                <a:ea typeface="Trebuchet MS"/>
                <a:cs typeface="Trebuchet MS"/>
                <a:sym typeface="Trebuchet MS"/>
              </a:rPr>
              <a:t>drawString()</a:t>
            </a:r>
            <a:r>
              <a:rPr b="1" i="1" lang="en-US" sz="2000" u="none">
                <a:solidFill>
                  <a:srgbClr val="212D32"/>
                </a:solidFill>
                <a:latin typeface="Trebuchet MS"/>
                <a:ea typeface="Trebuchet MS"/>
                <a:cs typeface="Trebuchet MS"/>
                <a:sym typeface="Trebuchet MS"/>
              </a:rPr>
              <a:t>-</a:t>
            </a:r>
          </a:p>
        </p:txBody>
      </p:sp>
      <p:sp>
        <p:nvSpPr>
          <p:cNvPr id="127" name="Shape 127"/>
          <p:cNvSpPr txBox="1"/>
          <p:nvPr/>
        </p:nvSpPr>
        <p:spPr>
          <a:xfrm>
            <a:off x="1006475" y="1336675"/>
            <a:ext cx="7570800" cy="1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3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3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7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member of Graphics class, used to output a string to an applet.</a:t>
            </a:r>
          </a:p>
          <a:p>
            <a:pPr indent="0" lvl="0" marL="0" marR="0" rtl="0" algn="l">
              <a:lnSpc>
                <a:spcPct val="111764"/>
              </a:lnSpc>
              <a:spcBef>
                <a:spcPts val="20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3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3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7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It is typically called from within the </a:t>
            </a:r>
            <a:r>
              <a:rPr b="1" i="0" lang="en-US" sz="17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paint() </a:t>
            </a:r>
            <a:r>
              <a:rPr b="0" i="0" lang="en-US" sz="17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or </a:t>
            </a:r>
            <a:r>
              <a:rPr b="1" i="0" lang="en-US" sz="17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update() </a:t>
            </a:r>
            <a:r>
              <a:rPr b="0" i="0" lang="en-US" sz="17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method.</a:t>
            </a:r>
          </a:p>
          <a:p>
            <a:pPr indent="0" lvl="0" marL="0" marR="0" rtl="0" algn="l">
              <a:lnSpc>
                <a:spcPct val="111764"/>
              </a:lnSpc>
              <a:spcBef>
                <a:spcPts val="20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3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3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7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void drawString(String msg,int a, int b)</a:t>
            </a:r>
          </a:p>
        </p:txBody>
      </p:sp>
      <p:sp>
        <p:nvSpPr>
          <p:cNvPr id="128" name="Shape 128"/>
          <p:cNvSpPr txBox="1"/>
          <p:nvPr/>
        </p:nvSpPr>
        <p:spPr>
          <a:xfrm>
            <a:off x="549275" y="2168525"/>
            <a:ext cx="52293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6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6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000" u="none">
                <a:solidFill>
                  <a:srgbClr val="212D32"/>
                </a:solidFill>
                <a:latin typeface="Trebuchet MS"/>
                <a:ea typeface="Trebuchet MS"/>
                <a:cs typeface="Trebuchet MS"/>
                <a:sym typeface="Trebuchet MS"/>
              </a:rPr>
              <a:t>setBackground() &amp; getBackground()</a:t>
            </a:r>
          </a:p>
        </p:txBody>
      </p:sp>
      <p:sp>
        <p:nvSpPr>
          <p:cNvPr id="129" name="Shape 129"/>
          <p:cNvSpPr txBox="1"/>
          <p:nvPr/>
        </p:nvSpPr>
        <p:spPr>
          <a:xfrm>
            <a:off x="549275" y="2493962"/>
            <a:ext cx="8734500" cy="1465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457200" marR="0" rtl="0" algn="l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3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3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7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belongs to Component class, used to set and get the background color.</a:t>
            </a:r>
          </a:p>
          <a:p>
            <a:pPr indent="0" lvl="0" marL="457200" marR="0" rtl="0" algn="l">
              <a:lnSpc>
                <a:spcPct val="111764"/>
              </a:lnSpc>
              <a:spcBef>
                <a:spcPts val="20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3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3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7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void setBackground(Color anyColor)</a:t>
            </a:r>
          </a:p>
          <a:p>
            <a:pPr indent="0" lvl="0" marL="457200" marR="0" rtl="0" algn="l">
              <a:lnSpc>
                <a:spcPct val="111764"/>
              </a:lnSpc>
              <a:spcBef>
                <a:spcPts val="20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3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3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7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predefined constants for each color, such as Color.red can be used.</a:t>
            </a: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6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6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000" u="none">
                <a:solidFill>
                  <a:srgbClr val="212D32"/>
                </a:solidFill>
                <a:latin typeface="Trebuchet MS"/>
                <a:ea typeface="Trebuchet MS"/>
                <a:cs typeface="Trebuchet MS"/>
                <a:sym typeface="Trebuchet MS"/>
              </a:rPr>
              <a:t>setForeground() &amp; get Foreground()</a:t>
            </a:r>
          </a:p>
        </p:txBody>
      </p:sp>
      <p:sp>
        <p:nvSpPr>
          <p:cNvPr id="130" name="Shape 130"/>
          <p:cNvSpPr txBox="1"/>
          <p:nvPr/>
        </p:nvSpPr>
        <p:spPr>
          <a:xfrm>
            <a:off x="1006475" y="3651250"/>
            <a:ext cx="87297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3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3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7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set and gets the color of the text to be displayed on the foreground of the</a:t>
            </a:r>
          </a:p>
        </p:txBody>
      </p:sp>
      <p:sp>
        <p:nvSpPr>
          <p:cNvPr id="131" name="Shape 131"/>
          <p:cNvSpPr txBox="1"/>
          <p:nvPr/>
        </p:nvSpPr>
        <p:spPr>
          <a:xfrm>
            <a:off x="1292225" y="3806825"/>
            <a:ext cx="18051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25000"/>
              <a:buFont typeface="Trebuchet MS"/>
              <a:buNone/>
            </a:pPr>
            <a:r>
              <a:rPr b="0" i="0" lang="en-US" sz="17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applet window.</a:t>
            </a:r>
          </a:p>
        </p:txBody>
      </p:sp>
      <p:sp>
        <p:nvSpPr>
          <p:cNvPr id="132" name="Shape 132"/>
          <p:cNvSpPr txBox="1"/>
          <p:nvPr/>
        </p:nvSpPr>
        <p:spPr>
          <a:xfrm>
            <a:off x="549275" y="4089400"/>
            <a:ext cx="48069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457200" marR="0" rtl="0" algn="l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3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3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7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void setForeground(Color anyColor)</a:t>
            </a: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6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6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000" u="none">
                <a:solidFill>
                  <a:srgbClr val="212D32"/>
                </a:solidFill>
                <a:latin typeface="Trebuchet MS"/>
                <a:ea typeface="Trebuchet MS"/>
                <a:cs typeface="Trebuchet MS"/>
                <a:sym typeface="Trebuchet MS"/>
              </a:rPr>
              <a:t>showStatus()</a:t>
            </a:r>
          </a:p>
        </p:txBody>
      </p:sp>
      <p:sp>
        <p:nvSpPr>
          <p:cNvPr id="133" name="Shape 133"/>
          <p:cNvSpPr txBox="1"/>
          <p:nvPr/>
        </p:nvSpPr>
        <p:spPr>
          <a:xfrm>
            <a:off x="1006475" y="4681537"/>
            <a:ext cx="63516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3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3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7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display any string in the status window of the browser</a:t>
            </a:r>
          </a:p>
          <a:p>
            <a:pPr indent="0" lvl="0" marL="0" marR="0" rtl="0" algn="l">
              <a:lnSpc>
                <a:spcPct val="111764"/>
              </a:lnSpc>
              <a:spcBef>
                <a:spcPts val="20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3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3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7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void showString(String text)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Shape 139"/>
          <p:cNvSpPr txBox="1"/>
          <p:nvPr/>
        </p:nvSpPr>
        <p:spPr>
          <a:xfrm>
            <a:off x="701675" y="669925"/>
            <a:ext cx="36654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3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Trebuchet MS"/>
              <a:buNone/>
            </a:pPr>
            <a:r>
              <a:rPr b="1" i="0" lang="en-US" sz="3600" u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Graphics class</a:t>
            </a:r>
          </a:p>
        </p:txBody>
      </p:sp>
      <p:sp>
        <p:nvSpPr>
          <p:cNvPr id="140" name="Shape 140"/>
          <p:cNvSpPr txBox="1"/>
          <p:nvPr/>
        </p:nvSpPr>
        <p:spPr>
          <a:xfrm>
            <a:off x="892175" y="1154112"/>
            <a:ext cx="28353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25000"/>
              <a:buFont typeface="Trebuchet MS"/>
              <a:buNone/>
            </a:pPr>
            <a:r>
              <a:rPr b="0" i="0" lang="en-US" sz="22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import java.awt.* ;</a:t>
            </a:r>
          </a:p>
        </p:txBody>
      </p:sp>
      <p:sp>
        <p:nvSpPr>
          <p:cNvPr id="141" name="Shape 141"/>
          <p:cNvSpPr txBox="1"/>
          <p:nvPr/>
        </p:nvSpPr>
        <p:spPr>
          <a:xfrm>
            <a:off x="892175" y="1481137"/>
            <a:ext cx="31749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25000"/>
              <a:buFont typeface="Trebuchet MS"/>
              <a:buNone/>
            </a:pPr>
            <a:r>
              <a:rPr b="0" i="0" lang="en-US" sz="22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import java.applet.* ;</a:t>
            </a:r>
          </a:p>
        </p:txBody>
      </p:sp>
      <p:sp>
        <p:nvSpPr>
          <p:cNvPr id="142" name="Shape 142"/>
          <p:cNvSpPr txBox="1"/>
          <p:nvPr/>
        </p:nvSpPr>
        <p:spPr>
          <a:xfrm>
            <a:off x="892175" y="1811336"/>
            <a:ext cx="6180000" cy="40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25000"/>
              <a:buFont typeface="Trebuchet MS"/>
              <a:buNone/>
            </a:pPr>
            <a:r>
              <a:rPr b="0" i="0" lang="en-US" sz="22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class DrawLineRect extends Applet {</a:t>
            </a:r>
          </a:p>
          <a:p>
            <a:pPr indent="0" lvl="0" marL="0" marR="0" rtl="0" algn="l">
              <a:lnSpc>
                <a:spcPct val="11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25000"/>
              <a:buFont typeface="Trebuchet MS"/>
              <a:buNone/>
            </a:pPr>
            <a:r>
              <a:rPr b="0" i="0" lang="en-US" sz="22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void paint(Graphics g){</a:t>
            </a:r>
          </a:p>
          <a:p>
            <a:pPr indent="0" lvl="0" marL="0" marR="0" rtl="0" algn="l">
              <a:lnSpc>
                <a:spcPct val="11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25000"/>
              <a:buFont typeface="Trebuchet MS"/>
              <a:buNone/>
            </a:pPr>
            <a:r>
              <a:rPr b="0" i="0" lang="en-US" sz="22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g.drawRect(10,60,40,30);</a:t>
            </a:r>
          </a:p>
          <a:p>
            <a:pPr indent="0" lvl="0" marL="0" marR="0" rtl="0" algn="l">
              <a:lnSpc>
                <a:spcPct val="11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25000"/>
              <a:buFont typeface="Trebuchet MS"/>
              <a:buNone/>
            </a:pPr>
            <a:r>
              <a:rPr b="0" i="0" lang="en-US" sz="22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g.fillRect(60,10,30,80);</a:t>
            </a:r>
          </a:p>
          <a:p>
            <a:pPr indent="0" lvl="0" marL="0" marR="0" rtl="0" algn="l">
              <a:lnSpc>
                <a:spcPct val="11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25000"/>
              <a:buFont typeface="Trebuchet MS"/>
              <a:buNone/>
            </a:pPr>
            <a:r>
              <a:rPr b="0" i="0" lang="en-US" sz="22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g.fillOval(140,160,170,170);</a:t>
            </a:r>
          </a:p>
          <a:p>
            <a:pPr indent="0" lvl="0" marL="0" marR="0" rtl="0" algn="l">
              <a:lnSpc>
                <a:spcPct val="11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25000"/>
              <a:buFont typeface="Trebuchet MS"/>
              <a:buNone/>
            </a:pPr>
            <a:r>
              <a:rPr b="0" i="0" lang="en-US" sz="22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g.drawRoundRect(10,100,80,50,10,10);</a:t>
            </a:r>
          </a:p>
          <a:p>
            <a:pPr indent="0" lvl="0" marL="0" marR="0" rtl="0" algn="l">
              <a:lnSpc>
                <a:spcPct val="11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25000"/>
              <a:buFont typeface="Trebuchet MS"/>
              <a:buNone/>
            </a:pPr>
            <a:r>
              <a:rPr b="0" i="0" lang="en-US" sz="22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g.fillRoundRect(20,110,60,30,5,5);</a:t>
            </a:r>
          </a:p>
          <a:p>
            <a:pPr indent="0" lvl="0" marL="0" marR="0" rtl="0" algn="l">
              <a:lnSpc>
                <a:spcPct val="11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25000"/>
              <a:buFont typeface="Trebuchet MS"/>
              <a:buNone/>
            </a:pPr>
            <a:r>
              <a:rPr b="0" i="0" lang="en-US" sz="22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g.drawArc(280,210,250,220,30,90);</a:t>
            </a:r>
          </a:p>
          <a:p>
            <a:pPr indent="0" lvl="0" marL="0" marR="0" rtl="0" algn="l">
              <a:lnSpc>
                <a:spcPct val="11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25000"/>
              <a:buFont typeface="Trebuchet MS"/>
              <a:buNone/>
            </a:pPr>
            <a:r>
              <a:rPr b="0" i="0" lang="en-US" sz="22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g.drawLine(100,10,230,140);</a:t>
            </a:r>
          </a:p>
          <a:p>
            <a:pPr indent="0" lvl="0" marL="0" marR="0" rtl="0" algn="l">
              <a:lnSpc>
                <a:spcPct val="11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25000"/>
              <a:buFont typeface="Trebuchet MS"/>
              <a:buNone/>
            </a:pPr>
            <a:r>
              <a:rPr b="0" i="0" lang="en-US" sz="22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g.drawLine(100,140,230,10);</a:t>
            </a:r>
          </a:p>
          <a:p>
            <a:pPr indent="0" lvl="0" marL="0" marR="0" rtl="0" algn="l">
              <a:lnSpc>
                <a:spcPct val="11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25000"/>
              <a:buFont typeface="Trebuchet MS"/>
              <a:buNone/>
            </a:pPr>
            <a:r>
              <a:rPr b="0" i="0" lang="en-US" sz="22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}}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Shape 148"/>
          <p:cNvSpPr txBox="1"/>
          <p:nvPr/>
        </p:nvSpPr>
        <p:spPr>
          <a:xfrm>
            <a:off x="701675" y="669925"/>
            <a:ext cx="31290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3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Trebuchet MS"/>
              <a:buNone/>
            </a:pPr>
            <a:r>
              <a:rPr b="1" i="0" lang="en-US" sz="3600" u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The Output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Shape 154"/>
          <p:cNvSpPr txBox="1"/>
          <p:nvPr/>
        </p:nvSpPr>
        <p:spPr>
          <a:xfrm>
            <a:off x="701675" y="669925"/>
            <a:ext cx="44370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3888"/>
              </a:lnSpc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Trebuchet MS"/>
              <a:buNone/>
            </a:pPr>
            <a:r>
              <a:rPr b="0" i="0" lang="en-US" sz="3600" u="none">
                <a:solidFill>
                  <a:srgbClr val="90C226"/>
                </a:solidFill>
                <a:latin typeface="Trebuchet MS"/>
                <a:ea typeface="Trebuchet MS"/>
                <a:cs typeface="Trebuchet MS"/>
                <a:sym typeface="Trebuchet MS"/>
              </a:rPr>
              <a:t>Now your turn..!!!</a:t>
            </a:r>
          </a:p>
        </p:txBody>
      </p:sp>
      <p:sp>
        <p:nvSpPr>
          <p:cNvPr id="155" name="Shape 155"/>
          <p:cNvSpPr txBox="1"/>
          <p:nvPr/>
        </p:nvSpPr>
        <p:spPr>
          <a:xfrm>
            <a:off x="701675" y="4219575"/>
            <a:ext cx="39258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Noto Sans Symbols"/>
              <a:buNone/>
            </a:pPr>
            <a:r>
              <a:rPr b="0" i="0" lang="en-US" sz="1400" u="none">
                <a:solidFill>
                  <a:srgbClr val="90C22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▶</a:t>
            </a:r>
            <a:r>
              <a:rPr b="0" i="0" lang="en-US" sz="1400" u="none">
                <a:solidFill>
                  <a:srgbClr val="90C2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How to programme this…..????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Shape 161"/>
          <p:cNvSpPr txBox="1"/>
          <p:nvPr/>
        </p:nvSpPr>
        <p:spPr>
          <a:xfrm>
            <a:off x="701675" y="669925"/>
            <a:ext cx="25956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13888"/>
              </a:lnSpc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ct val="25000"/>
              <a:buFont typeface="Trebuchet MS"/>
              <a:buNone/>
            </a:pPr>
            <a:r>
              <a:rPr b="0" i="0" lang="en-US" sz="3600" u="none">
                <a:solidFill>
                  <a:srgbClr val="90C226"/>
                </a:solidFill>
                <a:latin typeface="Trebuchet MS"/>
                <a:ea typeface="Trebuchet MS"/>
                <a:cs typeface="Trebuchet MS"/>
                <a:sym typeface="Trebuchet MS"/>
              </a:rPr>
              <a:t>HTML Ta g</a:t>
            </a:r>
          </a:p>
        </p:txBody>
      </p:sp>
      <p:sp>
        <p:nvSpPr>
          <p:cNvPr id="162" name="Shape 162"/>
          <p:cNvSpPr txBox="1"/>
          <p:nvPr/>
        </p:nvSpPr>
        <p:spPr>
          <a:xfrm>
            <a:off x="769937" y="2214562"/>
            <a:ext cx="6564300" cy="8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6350" lvl="0" marL="27305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25000"/>
              <a:buFont typeface="Trebuchet MS"/>
              <a:buNone/>
            </a:pPr>
            <a:r>
              <a:rPr b="0" i="0" lang="en-US" sz="1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&lt;applet code="Bubbles.class" width="350" height="350"&gt;</a:t>
            </a:r>
          </a:p>
          <a:p>
            <a:pPr indent="-6350" lvl="0" marL="27305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25000"/>
              <a:buFont typeface="Trebuchet MS"/>
              <a:buNone/>
            </a:pPr>
            <a:r>
              <a:rPr b="0" i="0" lang="en-US" sz="1800" u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&lt;/applet&gt;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eme Office">
  <a:themeElements>
    <a:clrScheme name="Standard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Theme Office">
  <a:themeElements>
    <a:clrScheme name="Standard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