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60" r:id="rId3"/>
    <p:sldMasterId id="2147483661" r:id="rId4"/>
    <p:sldMasterId id="2147483662" r:id="rId5"/>
    <p:sldMasterId id="2147483663" r:id="rId6"/>
    <p:sldMasterId id="2147483664" r:id="rId7"/>
    <p:sldMasterId id="2147483665" r:id="rId8"/>
    <p:sldMasterId id="2147483666" r:id="rId9"/>
    <p:sldMasterId id="2147483667" r:id="rId10"/>
    <p:sldMasterId id="2147483668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9" Type="http://schemas.openxmlformats.org/officeDocument/2006/relationships/slide" Target="slides/slide3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61" Type="http://schemas.openxmlformats.org/officeDocument/2006/relationships/slide" Target="slides/slide49.xml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60" Type="http://schemas.openxmlformats.org/officeDocument/2006/relationships/slide" Target="slides/slide48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9" Type="http://schemas.openxmlformats.org/officeDocument/2006/relationships/slide" Target="slides/slide17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11" Type="http://schemas.openxmlformats.org/officeDocument/2006/relationships/slideMaster" Target="slideMasters/slideMaster9.xml"/><Relationship Id="rId55" Type="http://schemas.openxmlformats.org/officeDocument/2006/relationships/slide" Target="slides/slide43.xml"/><Relationship Id="rId10" Type="http://schemas.openxmlformats.org/officeDocument/2006/relationships/slideMaster" Target="slideMasters/slideMaster8.xml"/><Relationship Id="rId54" Type="http://schemas.openxmlformats.org/officeDocument/2006/relationships/slide" Target="slides/slide42.xml"/><Relationship Id="rId13" Type="http://schemas.openxmlformats.org/officeDocument/2006/relationships/slide" Target="slides/slide1.xml"/><Relationship Id="rId57" Type="http://schemas.openxmlformats.org/officeDocument/2006/relationships/slide" Target="slides/slide45.xml"/><Relationship Id="rId12" Type="http://schemas.openxmlformats.org/officeDocument/2006/relationships/notesMaster" Target="notesMasters/notesMaster1.xml"/><Relationship Id="rId56" Type="http://schemas.openxmlformats.org/officeDocument/2006/relationships/slide" Target="slides/slide44.xml"/><Relationship Id="rId15" Type="http://schemas.openxmlformats.org/officeDocument/2006/relationships/slide" Target="slides/slide3.xml"/><Relationship Id="rId59" Type="http://schemas.openxmlformats.org/officeDocument/2006/relationships/slide" Target="slides/slide47.xml"/><Relationship Id="rId14" Type="http://schemas.openxmlformats.org/officeDocument/2006/relationships/slide" Target="slides/slide2.xml"/><Relationship Id="rId58" Type="http://schemas.openxmlformats.org/officeDocument/2006/relationships/slide" Target="slides/slide4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1100"/>
            </a:lvl1pPr>
            <a:lvl2pPr lvl="1" rtl="0">
              <a:spcBef>
                <a:spcPts val="0"/>
              </a:spcBef>
              <a:defRPr sz="1100"/>
            </a:lvl2pPr>
            <a:lvl3pPr lvl="2" rtl="0">
              <a:spcBef>
                <a:spcPts val="0"/>
              </a:spcBef>
              <a:defRPr sz="1100"/>
            </a:lvl3pPr>
            <a:lvl4pPr lvl="3" rtl="0">
              <a:spcBef>
                <a:spcPts val="0"/>
              </a:spcBef>
              <a:defRPr sz="1100"/>
            </a:lvl4pPr>
            <a:lvl5pPr lvl="4" rtl="0">
              <a:spcBef>
                <a:spcPts val="0"/>
              </a:spcBef>
              <a:defRPr sz="1100"/>
            </a:lvl5pPr>
            <a:lvl6pPr lvl="5" rtl="0">
              <a:spcBef>
                <a:spcPts val="0"/>
              </a:spcBef>
              <a:defRPr sz="1100"/>
            </a:lvl6pPr>
            <a:lvl7pPr lvl="6" rtl="0">
              <a:spcBef>
                <a:spcPts val="0"/>
              </a:spcBef>
              <a:defRPr sz="1100"/>
            </a:lvl7pPr>
            <a:lvl8pPr lvl="7" rtl="0">
              <a:spcBef>
                <a:spcPts val="0"/>
              </a:spcBef>
              <a:defRPr sz="1100"/>
            </a:lvl8pPr>
            <a:lvl9pPr lvl="8" rtl="0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4" name="Shape 184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5" name="Shape 19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7" name="Shape 207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9" name="Shape 21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9" name="Shape 22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3" name="Shape 24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3" name="Shape 25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0" name="Shape 260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9" name="Shape 27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5" name="Shape 28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5" name="Shape 29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4" name="Shape 304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1" name="Shape 32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0" name="Shape 330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1" name="Shape 34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9" name="Shape 34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2" name="Shape 36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5" name="Shape 38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7" name="Shape 397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1" name="Shape 41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2" name="Shape 42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34" name="Shape 434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42" name="Shape 44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73" name="Shape 47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0" name="Shape 480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93" name="Shape 49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4" name="Shape 504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51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15" name="Shape 51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526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27" name="Shape 527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42" name="Shape 54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57" name="Shape 557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67" name="Shape 567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79" name="Shape 57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59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91" name="Shape 59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99" name="Shape 59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6" name="Shape 616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62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29" name="Shape 62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38" name="Shape 638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48" name="Shape 648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653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54" name="Shape 654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78" name="Shape 678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69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99" name="Shape 69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716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17" name="Shape 717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29" name="Shape 72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739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0" name="Shape 740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Shape 75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51" name="Shape 75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hape 769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70" name="Shape 770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Shape 785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86" name="Shape 786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80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02" name="Shape 80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377666" y="427735"/>
            <a:ext cx="6798000" cy="17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dk2"/>
              </a:buClr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377666" y="2459482"/>
            <a:ext cx="67980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86435" lvl="0" marL="365760" rtl="0" algn="l">
              <a:spcBef>
                <a:spcPts val="400"/>
              </a:spcBef>
              <a:spcAft>
                <a:spcPts val="0"/>
              </a:spcAft>
              <a:defRPr/>
            </a:lvl1pPr>
            <a:lvl2pPr indent="-126491" lvl="1" marL="621792" rtl="0" algn="l">
              <a:spcBef>
                <a:spcPts val="324"/>
              </a:spcBef>
              <a:defRPr/>
            </a:lvl2pPr>
            <a:lvl3pPr indent="-122936" lvl="2" marL="859536" rtl="0" algn="l">
              <a:spcBef>
                <a:spcPts val="350"/>
              </a:spcBef>
              <a:defRPr/>
            </a:lvl3pPr>
            <a:lvl4pPr indent="-114300" lvl="3" marL="1143000" rtl="0" algn="l">
              <a:spcBef>
                <a:spcPts val="350"/>
              </a:spcBef>
              <a:defRPr/>
            </a:lvl4pPr>
            <a:lvl5pPr indent="-114300" lvl="4" marL="1371600" rtl="0" algn="l">
              <a:spcBef>
                <a:spcPts val="350"/>
              </a:spcBef>
              <a:defRPr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21" name="Shape 21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/>
          <p:nvPr>
            <p:ph type="title"/>
          </p:nvPr>
        </p:nvSpPr>
        <p:spPr>
          <a:xfrm rot="5400000">
            <a:off x="4936283" y="2182340"/>
            <a:ext cx="5592900" cy="17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dk2"/>
              </a:buClr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 rot="5400000">
            <a:off x="823050" y="-91209"/>
            <a:ext cx="55929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86435" lvl="0" marL="365760" rtl="0" algn="l">
              <a:spcBef>
                <a:spcPts val="400"/>
              </a:spcBef>
              <a:spcAft>
                <a:spcPts val="0"/>
              </a:spcAft>
              <a:defRPr/>
            </a:lvl1pPr>
            <a:lvl2pPr indent="-126491" lvl="1" marL="621792" rtl="0" algn="l">
              <a:spcBef>
                <a:spcPts val="324"/>
              </a:spcBef>
              <a:defRPr/>
            </a:lvl2pPr>
            <a:lvl3pPr indent="-122936" lvl="2" marL="859536" rtl="0" algn="l">
              <a:spcBef>
                <a:spcPts val="350"/>
              </a:spcBef>
              <a:defRPr/>
            </a:lvl3pPr>
            <a:lvl4pPr indent="-114300" lvl="3" marL="1143000" rtl="0" algn="l">
              <a:spcBef>
                <a:spcPts val="350"/>
              </a:spcBef>
              <a:defRPr/>
            </a:lvl4pPr>
            <a:lvl5pPr indent="-114300" lvl="4" marL="1371600" rtl="0" algn="l">
              <a:spcBef>
                <a:spcPts val="350"/>
              </a:spcBef>
              <a:defRPr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dk2"/>
              </a:buClr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43" name="Shape 43"/>
          <p:cNvSpPr txBox="1"/>
          <p:nvPr>
            <p:ph idx="1" type="body"/>
          </p:nvPr>
        </p:nvSpPr>
        <p:spPr>
          <a:xfrm rot="5400000">
            <a:off x="2379000" y="-440470"/>
            <a:ext cx="4386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86435" lvl="0" marL="365760" rtl="0" algn="l">
              <a:spcBef>
                <a:spcPts val="400"/>
              </a:spcBef>
              <a:spcAft>
                <a:spcPts val="0"/>
              </a:spcAft>
              <a:defRPr/>
            </a:lvl1pPr>
            <a:lvl2pPr indent="-126491" lvl="1" marL="621792" rtl="0" algn="l">
              <a:spcBef>
                <a:spcPts val="324"/>
              </a:spcBef>
              <a:defRPr/>
            </a:lvl2pPr>
            <a:lvl3pPr indent="-122936" lvl="2" marL="859536" rtl="0" algn="l">
              <a:spcBef>
                <a:spcPts val="350"/>
              </a:spcBef>
              <a:defRPr/>
            </a:lvl3pPr>
            <a:lvl4pPr indent="-114300" lvl="3" marL="1143000" rtl="0" algn="l">
              <a:spcBef>
                <a:spcPts val="350"/>
              </a:spcBef>
              <a:defRPr/>
            </a:lvl4pPr>
            <a:lvl5pPr indent="-114300" lvl="4" marL="1371600" rtl="0" algn="l">
              <a:spcBef>
                <a:spcPts val="350"/>
              </a:spcBef>
              <a:defRPr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" name="Shape 45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Shape 49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" name="Shape 5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86435" lvl="0" marL="365760" rtl="0" algn="l">
              <a:spcBef>
                <a:spcPts val="400"/>
              </a:spcBef>
              <a:spcAft>
                <a:spcPts val="0"/>
              </a:spcAft>
              <a:defRPr/>
            </a:lvl1pPr>
            <a:lvl2pPr indent="-126491" lvl="1" marL="621792" rtl="0" algn="l">
              <a:spcBef>
                <a:spcPts val="324"/>
              </a:spcBef>
              <a:defRPr/>
            </a:lvl2pPr>
            <a:lvl3pPr indent="-122936" lvl="2" marL="859536" rtl="0" algn="l">
              <a:spcBef>
                <a:spcPts val="350"/>
              </a:spcBef>
              <a:defRPr/>
            </a:lvl3pPr>
            <a:lvl4pPr indent="-114300" lvl="3" marL="1143000" rtl="0" algn="l">
              <a:spcBef>
                <a:spcPts val="350"/>
              </a:spcBef>
              <a:defRPr/>
            </a:lvl4pPr>
            <a:lvl5pPr indent="-114300" lvl="4" marL="1371600" rtl="0" algn="l">
              <a:spcBef>
                <a:spcPts val="350"/>
              </a:spcBef>
              <a:defRPr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53" name="Shape 53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dk2"/>
              </a:buClr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ctrTitle"/>
          </p:nvPr>
        </p:nvSpPr>
        <p:spPr>
          <a:xfrm>
            <a:off x="685800" y="1752601"/>
            <a:ext cx="7772400" cy="1829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rmAutofit/>
          </a:bodyPr>
          <a:lstStyle>
            <a:lvl1pPr indent="0" lvl="0" marL="0" rtl="0" algn="r">
              <a:spcBef>
                <a:spcPts val="0"/>
              </a:spcBef>
              <a:buClr>
                <a:schemeClr val="dk2"/>
              </a:buClr>
              <a:buFont typeface="Rambla"/>
              <a:buNone/>
              <a:defRPr b="1" sz="4800">
                <a:solidFill>
                  <a:schemeClr val="dk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</a:defRPr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73" name="Shape 73"/>
          <p:cNvSpPr txBox="1"/>
          <p:nvPr>
            <p:ph idx="1" type="subTitle"/>
          </p:nvPr>
        </p:nvSpPr>
        <p:spPr>
          <a:xfrm>
            <a:off x="685800" y="3611607"/>
            <a:ext cx="7772400" cy="1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64008" rtl="0" algn="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indent="0" lvl="1" marL="457200" rtl="0" algn="ctr">
              <a:spcBef>
                <a:spcPts val="324"/>
              </a:spcBef>
              <a:buNone/>
              <a:defRPr/>
            </a:lvl2pPr>
            <a:lvl3pPr indent="0" lvl="2" marL="914400" rtl="0" algn="ctr">
              <a:spcBef>
                <a:spcPts val="350"/>
              </a:spcBef>
              <a:buNone/>
              <a:defRPr/>
            </a:lvl3pPr>
            <a:lvl4pPr indent="0" lvl="3" marL="1371600" rtl="0" algn="ctr">
              <a:spcBef>
                <a:spcPts val="350"/>
              </a:spcBef>
              <a:buNone/>
              <a:defRPr/>
            </a:lvl4pPr>
            <a:lvl5pPr indent="0" lvl="4" marL="1828800" rtl="0" algn="ctr">
              <a:spcBef>
                <a:spcPts val="350"/>
              </a:spcBef>
              <a:buNone/>
              <a:defRPr/>
            </a:lvl5pPr>
            <a:lvl6pPr indent="0" lvl="5" marL="2286000" rtl="0" algn="ctr">
              <a:spcBef>
                <a:spcPts val="350"/>
              </a:spcBef>
              <a:buNone/>
              <a:defRPr/>
            </a:lvl6pPr>
            <a:lvl7pPr indent="0" lvl="6" marL="2743200" rtl="0" algn="ctr">
              <a:spcBef>
                <a:spcPts val="350"/>
              </a:spcBef>
              <a:buNone/>
              <a:defRPr/>
            </a:lvl7pPr>
            <a:lvl8pPr indent="0" lvl="7" marL="3200400" rtl="0" algn="ctr">
              <a:spcBef>
                <a:spcPts val="350"/>
              </a:spcBef>
              <a:buNone/>
              <a:defRPr/>
            </a:lvl8pPr>
            <a:lvl9pPr indent="0" lvl="8" marL="3657600" rtl="0" algn="ctr">
              <a:spcBef>
                <a:spcPts val="350"/>
              </a:spcBef>
              <a:buNone/>
              <a:defRPr/>
            </a:lvl9pPr>
          </a:lstStyle>
          <a:p/>
        </p:txBody>
      </p:sp>
      <p:sp>
        <p:nvSpPr>
          <p:cNvPr id="74" name="Shape 74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" name="Shape 76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rmAutofit/>
          </a:bodyPr>
          <a:lstStyle>
            <a:lvl1pPr indent="0" lvl="0" marL="0" rtl="0" algn="r">
              <a:spcBef>
                <a:spcPts val="0"/>
              </a:spcBef>
              <a:buClr>
                <a:schemeClr val="lt2"/>
              </a:buClr>
              <a:buFont typeface="Rambla"/>
              <a:buNone/>
              <a:defRPr b="1" sz="4800" cap="none"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</a:defRPr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3922712" y="2931711"/>
            <a:ext cx="4572000" cy="1454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l">
              <a:spcBef>
                <a:spcPts val="400"/>
              </a:spcBef>
              <a:spcAft>
                <a:spcPts val="0"/>
              </a:spcAft>
              <a:buNone/>
              <a:defRPr sz="2300">
                <a:solidFill>
                  <a:schemeClr val="lt1"/>
                </a:solidFill>
              </a:defRPr>
            </a:lvl1pPr>
            <a:lvl2pPr indent="-240791" lvl="1" marL="621792" rtl="0" algn="l">
              <a:spcBef>
                <a:spcPts val="324"/>
              </a:spcBef>
              <a:buNone/>
              <a:defRPr sz="1800">
                <a:solidFill>
                  <a:schemeClr val="lt1"/>
                </a:solidFill>
              </a:defRPr>
            </a:lvl2pPr>
            <a:lvl3pPr indent="-237236" lvl="2" marL="859536" rtl="0" algn="l">
              <a:spcBef>
                <a:spcPts val="350"/>
              </a:spcBef>
              <a:buNone/>
              <a:defRPr sz="1600">
                <a:solidFill>
                  <a:schemeClr val="lt1"/>
                </a:solidFill>
              </a:defRPr>
            </a:lvl3pPr>
            <a:lvl4pPr indent="-228600" lvl="3" marL="1143000" rtl="0" algn="l">
              <a:spcBef>
                <a:spcPts val="350"/>
              </a:spcBef>
              <a:buNone/>
              <a:defRPr sz="1400">
                <a:solidFill>
                  <a:schemeClr val="lt1"/>
                </a:solidFill>
              </a:defRPr>
            </a:lvl4pPr>
            <a:lvl5pPr indent="-228600" lvl="4" marL="1371600" rtl="0" algn="l">
              <a:spcBef>
                <a:spcPts val="350"/>
              </a:spcBef>
              <a:buNone/>
              <a:defRPr sz="1400">
                <a:solidFill>
                  <a:schemeClr val="lt1"/>
                </a:solidFill>
              </a:defRPr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94" name="Shape 94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Shape 95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idx="1" type="body"/>
          </p:nvPr>
        </p:nvSpPr>
        <p:spPr>
          <a:xfrm>
            <a:off x="457200" y="1481327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3255" lvl="0" marL="365760" rtl="0" algn="l">
              <a:spcBef>
                <a:spcPts val="400"/>
              </a:spcBef>
              <a:spcAft>
                <a:spcPts val="0"/>
              </a:spcAft>
              <a:buSzPct val="68000"/>
              <a:defRPr sz="2800"/>
            </a:lvl1pPr>
            <a:lvl2pPr indent="-88391" lvl="1" marL="621792" rtl="0" algn="l">
              <a:spcBef>
                <a:spcPts val="324"/>
              </a:spcBef>
              <a:buSzPct val="100000"/>
              <a:defRPr sz="2400"/>
            </a:lvl2pPr>
            <a:lvl3pPr indent="-110236" lvl="2" marL="859536" rtl="0" algn="l">
              <a:spcBef>
                <a:spcPts val="350"/>
              </a:spcBef>
              <a:buSzPct val="100000"/>
              <a:defRPr sz="2000"/>
            </a:lvl3pPr>
            <a:lvl4pPr indent="-114300" lvl="3" marL="1143000" rtl="0" algn="l">
              <a:spcBef>
                <a:spcPts val="350"/>
              </a:spcBef>
              <a:buSzPct val="100000"/>
              <a:defRPr sz="1800"/>
            </a:lvl4pPr>
            <a:lvl5pPr indent="-114300" lvl="4" marL="1371600" rtl="0" algn="l">
              <a:spcBef>
                <a:spcPts val="350"/>
              </a:spcBef>
              <a:buSzPct val="100000"/>
              <a:defRPr sz="18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11" name="Shape 111"/>
          <p:cNvSpPr txBox="1"/>
          <p:nvPr>
            <p:ph idx="2" type="body"/>
          </p:nvPr>
        </p:nvSpPr>
        <p:spPr>
          <a:xfrm>
            <a:off x="4648200" y="1481327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3255" lvl="0" marL="365760" rtl="0" algn="l">
              <a:spcBef>
                <a:spcPts val="400"/>
              </a:spcBef>
              <a:spcAft>
                <a:spcPts val="0"/>
              </a:spcAft>
              <a:buSzPct val="68000"/>
              <a:defRPr sz="2800"/>
            </a:lvl1pPr>
            <a:lvl2pPr indent="-88391" lvl="1" marL="621792" rtl="0" algn="l">
              <a:spcBef>
                <a:spcPts val="324"/>
              </a:spcBef>
              <a:buSzPct val="100000"/>
              <a:defRPr sz="2400"/>
            </a:lvl2pPr>
            <a:lvl3pPr indent="-110236" lvl="2" marL="859536" rtl="0" algn="l">
              <a:spcBef>
                <a:spcPts val="350"/>
              </a:spcBef>
              <a:buSzPct val="100000"/>
              <a:defRPr sz="2000"/>
            </a:lvl3pPr>
            <a:lvl4pPr indent="-114300" lvl="3" marL="1143000" rtl="0" algn="l">
              <a:spcBef>
                <a:spcPts val="350"/>
              </a:spcBef>
              <a:buSzPct val="100000"/>
              <a:defRPr sz="1800"/>
            </a:lvl4pPr>
            <a:lvl5pPr indent="-114300" lvl="4" marL="1371600" rtl="0" algn="l">
              <a:spcBef>
                <a:spcPts val="350"/>
              </a:spcBef>
              <a:buSzPct val="100000"/>
              <a:defRPr sz="18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12" name="Shape 112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lt2"/>
              </a:buClr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13" name="Shape 113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4" name="Shape 114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5" name="Shape 115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dk2"/>
              </a:buClr>
              <a:buFont typeface="Rambla"/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457200" y="5410200"/>
            <a:ext cx="4040100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91425" lIns="91425" rIns="91425" tIns="91425"/>
          <a:lstStyle>
            <a:lvl1pPr indent="0" lvl="0" marL="0" rtl="0" algn="l">
              <a:spcBef>
                <a:spcPts val="400"/>
              </a:spcBef>
              <a:spcAft>
                <a:spcPts val="0"/>
              </a:spcAft>
              <a:buNone/>
              <a:defRPr b="0" sz="2400">
                <a:solidFill>
                  <a:schemeClr val="lt1"/>
                </a:solidFill>
              </a:defRPr>
            </a:lvl1pPr>
            <a:lvl2pPr indent="-240791" lvl="1" marL="621792" rtl="0" algn="l">
              <a:spcBef>
                <a:spcPts val="324"/>
              </a:spcBef>
              <a:buNone/>
              <a:defRPr b="1" sz="2000"/>
            </a:lvl2pPr>
            <a:lvl3pPr indent="-237236" lvl="2" marL="859536" rtl="0" algn="l">
              <a:spcBef>
                <a:spcPts val="350"/>
              </a:spcBef>
              <a:buNone/>
              <a:defRPr b="1" sz="1800"/>
            </a:lvl3pPr>
            <a:lvl4pPr indent="-228600" lvl="3" marL="1143000" rtl="0" algn="l">
              <a:spcBef>
                <a:spcPts val="350"/>
              </a:spcBef>
              <a:buNone/>
              <a:defRPr b="1" sz="1600"/>
            </a:lvl4pPr>
            <a:lvl5pPr indent="-228600" lvl="4" marL="1371600" rtl="0" algn="l">
              <a:spcBef>
                <a:spcPts val="350"/>
              </a:spcBef>
              <a:buNone/>
              <a:defRPr b="1" sz="16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25" name="Shape 125"/>
          <p:cNvSpPr txBox="1"/>
          <p:nvPr>
            <p:ph idx="2" type="body"/>
          </p:nvPr>
        </p:nvSpPr>
        <p:spPr>
          <a:xfrm>
            <a:off x="4645026" y="5410200"/>
            <a:ext cx="4041900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91425" lIns="91425" rIns="91425" tIns="91425"/>
          <a:lstStyle>
            <a:lvl1pPr indent="0" lvl="0" marL="0" rtl="0" algn="l">
              <a:spcBef>
                <a:spcPts val="400"/>
              </a:spcBef>
              <a:spcAft>
                <a:spcPts val="0"/>
              </a:spcAft>
              <a:buNone/>
              <a:defRPr b="0" sz="2400">
                <a:solidFill>
                  <a:schemeClr val="lt1"/>
                </a:solidFill>
              </a:defRPr>
            </a:lvl1pPr>
            <a:lvl2pPr indent="-240791" lvl="1" marL="621792" rtl="0" algn="l">
              <a:spcBef>
                <a:spcPts val="324"/>
              </a:spcBef>
              <a:buNone/>
              <a:defRPr b="1" sz="2000"/>
            </a:lvl2pPr>
            <a:lvl3pPr indent="-237236" lvl="2" marL="859536" rtl="0" algn="l">
              <a:spcBef>
                <a:spcPts val="350"/>
              </a:spcBef>
              <a:buNone/>
              <a:defRPr b="1" sz="1800"/>
            </a:lvl3pPr>
            <a:lvl4pPr indent="-228600" lvl="3" marL="1143000" rtl="0" algn="l">
              <a:spcBef>
                <a:spcPts val="350"/>
              </a:spcBef>
              <a:buNone/>
              <a:defRPr b="1" sz="1600"/>
            </a:lvl4pPr>
            <a:lvl5pPr indent="-228600" lvl="4" marL="1371600" rtl="0" algn="l">
              <a:spcBef>
                <a:spcPts val="350"/>
              </a:spcBef>
              <a:buNone/>
              <a:defRPr b="1" sz="16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26" name="Shape 126"/>
          <p:cNvSpPr txBox="1"/>
          <p:nvPr>
            <p:ph idx="3" type="body"/>
          </p:nvPr>
        </p:nvSpPr>
        <p:spPr>
          <a:xfrm>
            <a:off x="457200" y="1444294"/>
            <a:ext cx="40401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60528" lvl="0" marL="365760" rtl="0" algn="l">
              <a:spcBef>
                <a:spcPts val="400"/>
              </a:spcBef>
              <a:spcAft>
                <a:spcPts val="0"/>
              </a:spcAft>
              <a:buSzPct val="68000"/>
              <a:defRPr sz="2400"/>
            </a:lvl1pPr>
            <a:lvl2pPr indent="-113791" lvl="1" marL="621792" rtl="0" algn="l">
              <a:spcBef>
                <a:spcPts val="324"/>
              </a:spcBef>
              <a:buSzPct val="100000"/>
              <a:defRPr sz="2000"/>
            </a:lvl2pPr>
            <a:lvl3pPr indent="-122936" lvl="2" marL="859536" rtl="0" algn="l">
              <a:spcBef>
                <a:spcPts val="350"/>
              </a:spcBef>
              <a:buSzPct val="100000"/>
              <a:defRPr sz="1800"/>
            </a:lvl3pPr>
            <a:lvl4pPr indent="-127000" lvl="3" marL="1143000" rtl="0" algn="l">
              <a:spcBef>
                <a:spcPts val="350"/>
              </a:spcBef>
              <a:buSzPct val="100000"/>
              <a:defRPr sz="1600"/>
            </a:lvl4pPr>
            <a:lvl5pPr indent="-127000" lvl="4" marL="1371600" rtl="0" algn="l">
              <a:spcBef>
                <a:spcPts val="350"/>
              </a:spcBef>
              <a:buSzPct val="100000"/>
              <a:defRPr sz="16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27" name="Shape 127"/>
          <p:cNvSpPr txBox="1"/>
          <p:nvPr>
            <p:ph idx="4" type="body"/>
          </p:nvPr>
        </p:nvSpPr>
        <p:spPr>
          <a:xfrm>
            <a:off x="4645025" y="1444294"/>
            <a:ext cx="40419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60528" lvl="0" marL="365760" rtl="0" algn="l">
              <a:spcBef>
                <a:spcPts val="0"/>
              </a:spcBef>
              <a:spcAft>
                <a:spcPts val="0"/>
              </a:spcAft>
              <a:buSzPct val="68000"/>
              <a:defRPr sz="2400"/>
            </a:lvl1pPr>
            <a:lvl2pPr indent="-113791" lvl="1" marL="621792" rtl="0" algn="l">
              <a:spcBef>
                <a:spcPts val="324"/>
              </a:spcBef>
              <a:buSzPct val="100000"/>
              <a:defRPr sz="2000"/>
            </a:lvl2pPr>
            <a:lvl3pPr indent="-122936" lvl="2" marL="859536" rtl="0" algn="l">
              <a:spcBef>
                <a:spcPts val="350"/>
              </a:spcBef>
              <a:buSzPct val="100000"/>
              <a:defRPr sz="1800"/>
            </a:lvl3pPr>
            <a:lvl4pPr indent="-127000" lvl="3" marL="1143000" rtl="0" algn="l">
              <a:spcBef>
                <a:spcPts val="350"/>
              </a:spcBef>
              <a:buSzPct val="100000"/>
              <a:defRPr sz="1600"/>
            </a:lvl4pPr>
            <a:lvl5pPr indent="-127000" lvl="4" marL="1371600" rtl="0" algn="l">
              <a:spcBef>
                <a:spcPts val="350"/>
              </a:spcBef>
              <a:buSzPct val="100000"/>
              <a:defRPr sz="16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28" name="Shape 128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Shape 129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0" name="Shape 13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rtl="0" algn="l">
              <a:spcBef>
                <a:spcPts val="0"/>
              </a:spcBef>
              <a:buClr>
                <a:schemeClr val="lt2"/>
              </a:buClr>
              <a:buNone/>
              <a:defRPr/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45" name="Shape 145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Shape 146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7" name="Shape 147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type="title"/>
          </p:nvPr>
        </p:nvSpPr>
        <p:spPr>
          <a:xfrm>
            <a:off x="914400" y="4876800"/>
            <a:ext cx="748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r">
              <a:spcBef>
                <a:spcPts val="0"/>
              </a:spcBef>
              <a:buClr>
                <a:schemeClr val="accent1"/>
              </a:buClr>
              <a:buFont typeface="Rambla"/>
              <a:buNone/>
              <a:defRPr b="0" sz="2500">
                <a:solidFill>
                  <a:schemeClr val="accent1"/>
                </a:solidFill>
              </a:defRPr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x="4419600" y="5355102"/>
            <a:ext cx="39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r">
              <a:spcBef>
                <a:spcPts val="400"/>
              </a:spcBef>
              <a:spcAft>
                <a:spcPts val="0"/>
              </a:spcAft>
              <a:buNone/>
              <a:defRPr sz="1600"/>
            </a:lvl1pPr>
            <a:lvl2pPr indent="-240791" lvl="1" marL="621792" rtl="0" algn="l">
              <a:spcBef>
                <a:spcPts val="324"/>
              </a:spcBef>
              <a:buNone/>
              <a:defRPr sz="1200"/>
            </a:lvl2pPr>
            <a:lvl3pPr indent="-237236" lvl="2" marL="859536" rtl="0" algn="l">
              <a:spcBef>
                <a:spcPts val="350"/>
              </a:spcBef>
              <a:buNone/>
              <a:defRPr sz="1000"/>
            </a:lvl3pPr>
            <a:lvl4pPr indent="-228600" lvl="3" marL="1143000" rtl="0" algn="l">
              <a:spcBef>
                <a:spcPts val="350"/>
              </a:spcBef>
              <a:buNone/>
              <a:defRPr sz="900"/>
            </a:lvl4pPr>
            <a:lvl5pPr indent="-228600" lvl="4" marL="1371600" rtl="0" algn="l">
              <a:spcBef>
                <a:spcPts val="350"/>
              </a:spcBef>
              <a:buNone/>
              <a:defRPr sz="9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57" name="Shape 157"/>
          <p:cNvSpPr txBox="1"/>
          <p:nvPr>
            <p:ph idx="2" type="body"/>
          </p:nvPr>
        </p:nvSpPr>
        <p:spPr>
          <a:xfrm>
            <a:off x="914400" y="274320"/>
            <a:ext cx="7479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5984" lvl="0" marL="365760" rtl="0" algn="l">
              <a:spcBef>
                <a:spcPts val="400"/>
              </a:spcBef>
              <a:spcAft>
                <a:spcPts val="0"/>
              </a:spcAft>
              <a:buSzPct val="68000"/>
              <a:defRPr sz="3200"/>
            </a:lvl1pPr>
            <a:lvl2pPr indent="-62991" lvl="1" marL="621792" rtl="0" algn="l">
              <a:spcBef>
                <a:spcPts val="324"/>
              </a:spcBef>
              <a:buSzPct val="100000"/>
              <a:defRPr sz="2800"/>
            </a:lvl2pPr>
            <a:lvl3pPr indent="-84836" lvl="2" marL="859536" rtl="0" algn="l">
              <a:spcBef>
                <a:spcPts val="350"/>
              </a:spcBef>
              <a:buSzPct val="100000"/>
              <a:defRPr sz="2400"/>
            </a:lvl3pPr>
            <a:lvl4pPr indent="-101600" lvl="3" marL="1143000" rtl="0" algn="l">
              <a:spcBef>
                <a:spcPts val="350"/>
              </a:spcBef>
              <a:buSzPct val="100000"/>
              <a:defRPr sz="2000"/>
            </a:lvl4pPr>
            <a:lvl5pPr indent="-101600" lvl="4" marL="1371600" rtl="0" algn="l">
              <a:spcBef>
                <a:spcPts val="350"/>
              </a:spcBef>
              <a:buSzPct val="100000"/>
              <a:defRPr sz="20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58" name="Shape 158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9" name="Shape 159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0" name="Shape 16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/>
          <p:nvPr>
            <p:ph idx="1" type="body"/>
          </p:nvPr>
        </p:nvSpPr>
        <p:spPr>
          <a:xfrm>
            <a:off x="1141232" y="5443402"/>
            <a:ext cx="71628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18288" rtl="0" algn="r">
              <a:spcBef>
                <a:spcPts val="400"/>
              </a:spcBef>
              <a:spcAft>
                <a:spcPts val="0"/>
              </a:spcAft>
              <a:buNone/>
              <a:defRPr sz="1400"/>
            </a:lvl1pPr>
            <a:lvl2pPr indent="-164591" lvl="1" marL="621792" rtl="0" algn="l">
              <a:spcBef>
                <a:spcPts val="324"/>
              </a:spcBef>
              <a:buSzPct val="100000"/>
              <a:defRPr sz="1200"/>
            </a:lvl2pPr>
            <a:lvl3pPr indent="-173736" lvl="2" marL="859536" rtl="0" algn="l">
              <a:spcBef>
                <a:spcPts val="350"/>
              </a:spcBef>
              <a:buSzPct val="100000"/>
              <a:defRPr sz="1000"/>
            </a:lvl3pPr>
            <a:lvl4pPr indent="-171450" lvl="3" marL="1143000" rtl="0" algn="l">
              <a:spcBef>
                <a:spcPts val="350"/>
              </a:spcBef>
              <a:buSzPct val="100000"/>
              <a:defRPr sz="900"/>
            </a:lvl4pPr>
            <a:lvl5pPr indent="-171450" lvl="4" marL="1371600" rtl="0" algn="l">
              <a:spcBef>
                <a:spcPts val="350"/>
              </a:spcBef>
              <a:buSzPct val="100000"/>
              <a:defRPr sz="900"/>
            </a:lvl5pPr>
            <a:lvl6pPr indent="-114300" lvl="5" marL="1600200" rtl="0" algn="l">
              <a:spcBef>
                <a:spcPts val="350"/>
              </a:spcBef>
              <a:defRPr/>
            </a:lvl6pPr>
            <a:lvl7pPr indent="-114300" lvl="6" marL="1828800" rtl="0" algn="l">
              <a:spcBef>
                <a:spcPts val="350"/>
              </a:spcBef>
              <a:defRPr/>
            </a:lvl7pPr>
            <a:lvl8pPr indent="-114300" lvl="7" marL="2057400" rtl="0" algn="l">
              <a:spcBef>
                <a:spcPts val="350"/>
              </a:spcBef>
              <a:defRPr/>
            </a:lvl8pPr>
            <a:lvl9pPr indent="-114300" lvl="8" marL="2286000" rtl="0" algn="l">
              <a:spcBef>
                <a:spcPts val="350"/>
              </a:spcBef>
              <a:defRPr/>
            </a:lvl9pPr>
          </a:lstStyle>
          <a:p/>
        </p:txBody>
      </p:sp>
      <p:sp>
        <p:nvSpPr>
          <p:cNvPr id="177" name="Shape 177"/>
          <p:cNvSpPr/>
          <p:nvPr>
            <p:ph idx="2" type="pic"/>
          </p:nvPr>
        </p:nvSpPr>
        <p:spPr>
          <a:xfrm>
            <a:off x="228600" y="189968"/>
            <a:ext cx="8686800" cy="438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  <a:effectLst>
            <a:innerShdw blurRad="95250">
              <a:srgbClr val="000000"/>
            </a:innerShdw>
          </a:effectLst>
        </p:spPr>
        <p:txBody>
          <a:bodyPr anchorCtr="0" anchor="t" bIns="91425" lIns="91425" rIns="91425" tIns="91425">
            <a:normAutofit/>
          </a:bodyPr>
          <a:lstStyle>
            <a:lvl1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b="0" i="0" sz="32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78" name="Shape 178"/>
          <p:cNvSpPr txBox="1"/>
          <p:nvPr>
            <p:ph type="title"/>
          </p:nvPr>
        </p:nvSpPr>
        <p:spPr>
          <a:xfrm>
            <a:off x="228600" y="4865122"/>
            <a:ext cx="8075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rmAutofit/>
          </a:bodyPr>
          <a:lstStyle>
            <a:lvl1pPr indent="0" lvl="0" marL="0" marR="0" rtl="0" algn="r">
              <a:spcBef>
                <a:spcPts val="0"/>
              </a:spcBef>
              <a:buClr>
                <a:schemeClr val="accent1"/>
              </a:buClr>
              <a:buFont typeface="Rambla"/>
              <a:buNone/>
              <a:defRPr b="0" sz="3000">
                <a:solidFill>
                  <a:schemeClr val="accent1"/>
                </a:solidFill>
                <a:effectLst>
                  <a:outerShdw blurRad="50800" rotWithShape="0" algn="t" dir="5400000" dist="25000">
                    <a:prstClr val="black">
                      <a:alpha val="45000"/>
                    </a:prstClr>
                  </a:outerShdw>
                </a:effectLst>
              </a:defRPr>
            </a:lvl1pPr>
            <a:lvl2pPr indent="0" lvl="1" rtl="0">
              <a:spcBef>
                <a:spcPts val="0"/>
              </a:spcBef>
              <a:buNone/>
              <a:defRPr/>
            </a:lvl2pPr>
            <a:lvl3pPr indent="0" lvl="2" rtl="0">
              <a:spcBef>
                <a:spcPts val="0"/>
              </a:spcBef>
              <a:buNone/>
              <a:defRPr/>
            </a:lvl3pPr>
            <a:lvl4pPr indent="0" lvl="3" rtl="0">
              <a:spcBef>
                <a:spcPts val="0"/>
              </a:spcBef>
              <a:buNone/>
              <a:defRPr/>
            </a:lvl4pPr>
            <a:lvl5pPr indent="0" lvl="4" rtl="0">
              <a:spcBef>
                <a:spcPts val="0"/>
              </a:spcBef>
              <a:buNone/>
              <a:defRPr/>
            </a:lvl5pPr>
            <a:lvl6pPr indent="0" lvl="5" rtl="0">
              <a:spcBef>
                <a:spcPts val="0"/>
              </a:spcBef>
              <a:buNone/>
              <a:defRPr/>
            </a:lvl6pPr>
            <a:lvl7pPr indent="0" lvl="6" rtl="0">
              <a:spcBef>
                <a:spcPts val="0"/>
              </a:spcBef>
              <a:buNone/>
              <a:defRPr/>
            </a:lvl7pPr>
            <a:lvl8pPr indent="0" lvl="7" rtl="0">
              <a:spcBef>
                <a:spcPts val="0"/>
              </a:spcBef>
              <a:buNone/>
              <a:defRPr/>
            </a:lvl8pPr>
            <a:lvl9pPr indent="0" lvl="8" rtl="0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79" name="Shape 179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0" name="Shape 180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1" name="Shape 181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9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6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<Relationship Id="rId5" Type="http://schemas.openxmlformats.org/officeDocument/2006/relationships/theme" Target="../theme/theme10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5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/>
          <p:nvPr/>
        </p:nvSpPr>
        <p:spPr>
          <a:xfrm>
            <a:off x="715961" y="5002212"/>
            <a:ext cx="3802200" cy="1443000"/>
          </a:xfrm>
          <a:custGeom>
            <a:pathLst>
              <a:path extrusionOk="0" h="120000" w="120000">
                <a:moveTo>
                  <a:pt x="-6854" y="78863"/>
                </a:moveTo>
                <a:lnTo>
                  <a:pt x="149083" y="155000"/>
                </a:lnTo>
                <a:lnTo>
                  <a:pt x="108937" y="155000"/>
                </a:lnTo>
                <a:lnTo>
                  <a:pt x="-6833" y="78409"/>
                </a:lnTo>
              </a:path>
            </a:pathLst>
          </a:custGeom>
          <a:solidFill>
            <a:srgbClr val="9FCBDC">
              <a:alpha val="3961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7"/>
          <p:cNvSpPr/>
          <p:nvPr/>
        </p:nvSpPr>
        <p:spPr>
          <a:xfrm>
            <a:off x="-53975" y="5784850"/>
            <a:ext cx="3802200" cy="838200"/>
          </a:xfrm>
          <a:custGeom>
            <a:pathLst>
              <a:path extrusionOk="0" h="120000" w="120000">
                <a:moveTo>
                  <a:pt x="17020" y="22045"/>
                </a:moveTo>
                <a:lnTo>
                  <a:pt x="133500" y="155000"/>
                </a:lnTo>
                <a:lnTo>
                  <a:pt x="109000" y="155681"/>
                </a:lnTo>
                <a:lnTo>
                  <a:pt x="17270" y="2295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Shape 8"/>
          <p:cNvGrpSpPr/>
          <p:nvPr/>
        </p:nvGrpSpPr>
        <p:grpSpPr>
          <a:xfrm>
            <a:off x="-12700" y="5784850"/>
            <a:ext cx="3414600" cy="1092300"/>
            <a:chOff x="-12700" y="5784850"/>
            <a:chExt cx="3414600" cy="1092300"/>
          </a:xfrm>
        </p:grpSpPr>
        <p:pic>
          <p:nvPicPr>
            <p:cNvPr id="9" name="Shape 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12700" y="5784850"/>
              <a:ext cx="3414600" cy="10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Shape 10"/>
            <p:cNvSpPr txBox="1"/>
            <p:nvPr/>
          </p:nvSpPr>
          <p:spPr>
            <a:xfrm>
              <a:off x="277811" y="6421436"/>
              <a:ext cx="1700100" cy="360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" name="Shape 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2150"/>
            <a:ext cx="3421200" cy="11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12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dk2"/>
              </a:buClr>
              <a:buFont typeface="Rambla"/>
              <a:buNone/>
              <a:defRPr b="1" i="0" sz="4100" u="none" cap="none" strike="noStrike">
                <a:solidFill>
                  <a:schemeClr val="dk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3" name="Shape 13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15" name="Shape 15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715961" y="5002212"/>
            <a:ext cx="3802200" cy="1443000"/>
          </a:xfrm>
          <a:custGeom>
            <a:pathLst>
              <a:path extrusionOk="0" h="120000" w="120000">
                <a:moveTo>
                  <a:pt x="-6854" y="78863"/>
                </a:moveTo>
                <a:lnTo>
                  <a:pt x="149083" y="155000"/>
                </a:lnTo>
                <a:lnTo>
                  <a:pt x="108937" y="155000"/>
                </a:lnTo>
                <a:lnTo>
                  <a:pt x="-6833" y="78409"/>
                </a:lnTo>
              </a:path>
            </a:pathLst>
          </a:custGeom>
          <a:solidFill>
            <a:srgbClr val="9FCBDC">
              <a:alpha val="3961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-53975" y="5784850"/>
            <a:ext cx="3802200" cy="838200"/>
          </a:xfrm>
          <a:custGeom>
            <a:pathLst>
              <a:path extrusionOk="0" h="120000" w="120000">
                <a:moveTo>
                  <a:pt x="17020" y="22045"/>
                </a:moveTo>
                <a:lnTo>
                  <a:pt x="133500" y="155000"/>
                </a:lnTo>
                <a:lnTo>
                  <a:pt x="109000" y="155681"/>
                </a:lnTo>
                <a:lnTo>
                  <a:pt x="17270" y="2295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Shape 26"/>
          <p:cNvGrpSpPr/>
          <p:nvPr/>
        </p:nvGrpSpPr>
        <p:grpSpPr>
          <a:xfrm>
            <a:off x="-12700" y="5784850"/>
            <a:ext cx="3414600" cy="1092300"/>
            <a:chOff x="-12700" y="5784850"/>
            <a:chExt cx="3414600" cy="1092300"/>
          </a:xfrm>
        </p:grpSpPr>
        <p:pic>
          <p:nvPicPr>
            <p:cNvPr id="27" name="Shape 2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12700" y="5784850"/>
              <a:ext cx="3414600" cy="10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Shape 28"/>
            <p:cNvSpPr txBox="1"/>
            <p:nvPr/>
          </p:nvSpPr>
          <p:spPr>
            <a:xfrm>
              <a:off x="277811" y="6421436"/>
              <a:ext cx="1700100" cy="360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Shape 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2150"/>
            <a:ext cx="3421200" cy="11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Shape 30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dk2"/>
              </a:buClr>
              <a:buFont typeface="Rambla"/>
              <a:buNone/>
              <a:defRPr b="1" i="0" sz="4100" u="none" cap="none" strike="noStrike">
                <a:solidFill>
                  <a:schemeClr val="dk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0" y="4664075"/>
            <a:ext cx="915030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122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" name="Shape 59"/>
          <p:cNvGrpSpPr/>
          <p:nvPr/>
        </p:nvGrpSpPr>
        <p:grpSpPr>
          <a:xfrm>
            <a:off x="-11023" y="5010820"/>
            <a:ext cx="8727079" cy="1940743"/>
            <a:chOff x="0" y="0"/>
            <a:chExt cx="2147483647" cy="2147483646"/>
          </a:xfrm>
        </p:grpSpPr>
        <p:sp>
          <p:nvSpPr>
            <p:cNvPr id="60" name="Shape 60"/>
            <p:cNvSpPr/>
            <p:nvPr/>
          </p:nvSpPr>
          <p:spPr>
            <a:xfrm>
              <a:off x="398381773" y="0"/>
              <a:ext cx="1747672999" cy="546814443"/>
            </a:xfrm>
            <a:custGeom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7128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FCBDC">
                <a:alpha val="39610"/>
              </a:srgbClr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Shape 61"/>
            <p:cNvSpPr/>
            <p:nvPr/>
          </p:nvSpPr>
          <p:spPr>
            <a:xfrm>
              <a:off x="11164828" y="318961780"/>
              <a:ext cx="2134889910" cy="883434439"/>
            </a:xfrm>
            <a:custGeom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10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" name="Shape 62"/>
            <p:cNvGrpSpPr/>
            <p:nvPr/>
          </p:nvGrpSpPr>
          <p:grpSpPr>
            <a:xfrm>
              <a:off x="1428798" y="44316228"/>
              <a:ext cx="2146054701" cy="2103167633"/>
              <a:chOff x="0" y="0"/>
              <a:chExt cx="2147483587" cy="2147483647"/>
            </a:xfrm>
          </p:grpSpPr>
          <p:pic>
            <p:nvPicPr>
              <p:cNvPr id="63" name="Shape 63"/>
              <p:cNvPicPr preferRelativeResize="0"/>
              <p:nvPr/>
            </p:nvPicPr>
            <p:blipFill rotWithShape="1">
              <a:blip r:embed="rId1">
                <a:alphaModFix/>
              </a:blip>
              <a:srcRect b="0" l="0" r="0" t="0"/>
              <a:stretch/>
            </p:blipFill>
            <p:spPr>
              <a:xfrm>
                <a:off x="0" y="144"/>
                <a:ext cx="2147483647" cy="21474836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" name="Shape 64"/>
              <p:cNvSpPr txBox="1"/>
              <p:nvPr/>
            </p:nvSpPr>
            <p:spPr>
              <a:xfrm>
                <a:off x="1429749" y="9555099"/>
                <a:ext cx="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65" name="Shape 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37557030"/>
              <a:ext cx="2147483558" cy="9150259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" name="Shape 66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dk2"/>
              </a:buClr>
              <a:buFont typeface="Rambla"/>
              <a:buNone/>
              <a:defRPr b="1" i="0" sz="4100" u="none" cap="none" strike="noStrike">
                <a:solidFill>
                  <a:schemeClr val="dk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/>
        </p:nvSpPr>
        <p:spPr>
          <a:xfrm>
            <a:off x="715961" y="5002212"/>
            <a:ext cx="3802200" cy="1443000"/>
          </a:xfrm>
          <a:custGeom>
            <a:pathLst>
              <a:path extrusionOk="0" h="120000" w="120000">
                <a:moveTo>
                  <a:pt x="-6854" y="78863"/>
                </a:moveTo>
                <a:lnTo>
                  <a:pt x="149083" y="155000"/>
                </a:lnTo>
                <a:lnTo>
                  <a:pt x="108937" y="155000"/>
                </a:lnTo>
                <a:lnTo>
                  <a:pt x="-6833" y="78409"/>
                </a:lnTo>
              </a:path>
            </a:pathLst>
          </a:custGeom>
          <a:solidFill>
            <a:srgbClr val="9FCBDC">
              <a:alpha val="3961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Shape 79"/>
          <p:cNvSpPr/>
          <p:nvPr/>
        </p:nvSpPr>
        <p:spPr>
          <a:xfrm>
            <a:off x="-53975" y="5784850"/>
            <a:ext cx="3802200" cy="838200"/>
          </a:xfrm>
          <a:custGeom>
            <a:pathLst>
              <a:path extrusionOk="0" h="120000" w="120000">
                <a:moveTo>
                  <a:pt x="17020" y="22045"/>
                </a:moveTo>
                <a:lnTo>
                  <a:pt x="133500" y="155000"/>
                </a:lnTo>
                <a:lnTo>
                  <a:pt x="109000" y="155681"/>
                </a:lnTo>
                <a:lnTo>
                  <a:pt x="17270" y="2295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Shape 80"/>
          <p:cNvGrpSpPr/>
          <p:nvPr/>
        </p:nvGrpSpPr>
        <p:grpSpPr>
          <a:xfrm>
            <a:off x="-12700" y="5784850"/>
            <a:ext cx="3414600" cy="1092300"/>
            <a:chOff x="-12700" y="5784850"/>
            <a:chExt cx="3414600" cy="1092300"/>
          </a:xfrm>
        </p:grpSpPr>
        <p:pic>
          <p:nvPicPr>
            <p:cNvPr id="81" name="Shape 8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00" y="5784850"/>
              <a:ext cx="3414600" cy="10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Shape 82"/>
            <p:cNvSpPr txBox="1"/>
            <p:nvPr/>
          </p:nvSpPr>
          <p:spPr>
            <a:xfrm>
              <a:off x="277811" y="6421436"/>
              <a:ext cx="1700100" cy="360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2150"/>
            <a:ext cx="3421200" cy="11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Shape 84"/>
          <p:cNvSpPr/>
          <p:nvPr/>
        </p:nvSpPr>
        <p:spPr>
          <a:xfrm>
            <a:off x="3636962" y="3005137"/>
            <a:ext cx="18270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38" scaled="0"/>
          </a:gradFill>
          <a:ln cap="rnd" cmpd="sng" w="9525">
            <a:solidFill>
              <a:srgbClr val="1E768C"/>
            </a:solidFill>
            <a:prstDash val="solid"/>
            <a:miter/>
            <a:headEnd len="med" w="med" type="none"/>
            <a:tailEnd len="med" w="med" type="none"/>
          </a:ln>
          <a:effectLst>
            <a:outerShdw blurRad="63500" dir="5400000" dist="25400">
              <a:srgbClr val="000000">
                <a:alpha val="45880"/>
              </a:srgbClr>
            </a:outerShdw>
          </a:effectLst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Shape 85"/>
          <p:cNvSpPr/>
          <p:nvPr/>
        </p:nvSpPr>
        <p:spPr>
          <a:xfrm>
            <a:off x="3449637" y="3005137"/>
            <a:ext cx="18420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38" scaled="0"/>
          </a:gradFill>
          <a:ln cap="rnd" cmpd="sng" w="9525">
            <a:solidFill>
              <a:srgbClr val="1E768C"/>
            </a:solidFill>
            <a:prstDash val="solid"/>
            <a:miter/>
            <a:headEnd len="med" w="med" type="none"/>
            <a:tailEnd len="med" w="med" type="none"/>
          </a:ln>
          <a:effectLst>
            <a:outerShdw blurRad="63500" dir="5400000" dist="25400">
              <a:srgbClr val="000000">
                <a:alpha val="45880"/>
              </a:srgbClr>
            </a:outerShdw>
          </a:effectLst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lt2"/>
              </a:buClr>
              <a:buFont typeface="Rambla"/>
              <a:buNone/>
              <a:defRPr b="1" i="0" sz="4100" u="none" cap="none" strike="noStrike">
                <a:solidFill>
                  <a:schemeClr val="lt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Shape 89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Shape 90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/>
        </p:nvSpPr>
        <p:spPr>
          <a:xfrm>
            <a:off x="715961" y="5002212"/>
            <a:ext cx="3802200" cy="1443000"/>
          </a:xfrm>
          <a:custGeom>
            <a:pathLst>
              <a:path extrusionOk="0" h="120000" w="120000">
                <a:moveTo>
                  <a:pt x="-6854" y="78863"/>
                </a:moveTo>
                <a:lnTo>
                  <a:pt x="149083" y="155000"/>
                </a:lnTo>
                <a:lnTo>
                  <a:pt x="108937" y="155000"/>
                </a:lnTo>
                <a:lnTo>
                  <a:pt x="-6833" y="78409"/>
                </a:lnTo>
              </a:path>
            </a:pathLst>
          </a:custGeom>
          <a:solidFill>
            <a:srgbClr val="9FCBDC">
              <a:alpha val="3961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9"/>
          <p:cNvSpPr/>
          <p:nvPr/>
        </p:nvSpPr>
        <p:spPr>
          <a:xfrm>
            <a:off x="-53975" y="5784850"/>
            <a:ext cx="3802200" cy="838200"/>
          </a:xfrm>
          <a:custGeom>
            <a:pathLst>
              <a:path extrusionOk="0" h="120000" w="120000">
                <a:moveTo>
                  <a:pt x="17020" y="22045"/>
                </a:moveTo>
                <a:lnTo>
                  <a:pt x="133500" y="155000"/>
                </a:lnTo>
                <a:lnTo>
                  <a:pt x="109000" y="155681"/>
                </a:lnTo>
                <a:lnTo>
                  <a:pt x="17270" y="2295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Shape 100"/>
          <p:cNvGrpSpPr/>
          <p:nvPr/>
        </p:nvGrpSpPr>
        <p:grpSpPr>
          <a:xfrm>
            <a:off x="-12700" y="5784850"/>
            <a:ext cx="3414600" cy="1092300"/>
            <a:chOff x="-12700" y="5784850"/>
            <a:chExt cx="3414600" cy="1092300"/>
          </a:xfrm>
        </p:grpSpPr>
        <p:pic>
          <p:nvPicPr>
            <p:cNvPr id="101" name="Shape 10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00" y="5784850"/>
              <a:ext cx="3414600" cy="10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Shape 102"/>
            <p:cNvSpPr txBox="1"/>
            <p:nvPr/>
          </p:nvSpPr>
          <p:spPr>
            <a:xfrm>
              <a:off x="277811" y="6421436"/>
              <a:ext cx="1700100" cy="360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3" name="Shape 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2150"/>
            <a:ext cx="3421200" cy="11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lt2"/>
              </a:buClr>
              <a:buFont typeface="Rambla"/>
              <a:buNone/>
              <a:defRPr b="1" i="0" sz="4100" u="none" cap="none" strike="noStrike">
                <a:solidFill>
                  <a:schemeClr val="lt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06" name="Shape 106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Shape 107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Shape 108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dk2"/>
              </a:buClr>
              <a:buFont typeface="Rambla"/>
              <a:buNone/>
              <a:defRPr b="1" i="0" sz="4100" u="none" cap="none" strike="noStrike">
                <a:solidFill>
                  <a:schemeClr val="dk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19" name="Shape 119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Shape 120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Shape 121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/>
        </p:nvSpPr>
        <p:spPr>
          <a:xfrm>
            <a:off x="715961" y="5002212"/>
            <a:ext cx="3802200" cy="1443000"/>
          </a:xfrm>
          <a:custGeom>
            <a:pathLst>
              <a:path extrusionOk="0" h="120000" w="120000">
                <a:moveTo>
                  <a:pt x="-6854" y="78863"/>
                </a:moveTo>
                <a:lnTo>
                  <a:pt x="149083" y="155000"/>
                </a:lnTo>
                <a:lnTo>
                  <a:pt x="108937" y="155000"/>
                </a:lnTo>
                <a:lnTo>
                  <a:pt x="-6833" y="78409"/>
                </a:lnTo>
              </a:path>
            </a:pathLst>
          </a:custGeom>
          <a:solidFill>
            <a:srgbClr val="9FCBDC">
              <a:alpha val="3961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Shape 133"/>
          <p:cNvSpPr/>
          <p:nvPr/>
        </p:nvSpPr>
        <p:spPr>
          <a:xfrm>
            <a:off x="-53975" y="5784850"/>
            <a:ext cx="3802200" cy="838200"/>
          </a:xfrm>
          <a:custGeom>
            <a:pathLst>
              <a:path extrusionOk="0" h="120000" w="120000">
                <a:moveTo>
                  <a:pt x="17020" y="22045"/>
                </a:moveTo>
                <a:lnTo>
                  <a:pt x="133500" y="155000"/>
                </a:lnTo>
                <a:lnTo>
                  <a:pt x="109000" y="155681"/>
                </a:lnTo>
                <a:lnTo>
                  <a:pt x="17270" y="2295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Shape 134"/>
          <p:cNvGrpSpPr/>
          <p:nvPr/>
        </p:nvGrpSpPr>
        <p:grpSpPr>
          <a:xfrm>
            <a:off x="-12700" y="5784850"/>
            <a:ext cx="3414600" cy="1092300"/>
            <a:chOff x="-12700" y="5784850"/>
            <a:chExt cx="3414600" cy="1092300"/>
          </a:xfrm>
        </p:grpSpPr>
        <p:pic>
          <p:nvPicPr>
            <p:cNvPr id="135" name="Shape 1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00" y="5784850"/>
              <a:ext cx="3414600" cy="10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Shape 136"/>
            <p:cNvSpPr txBox="1"/>
            <p:nvPr/>
          </p:nvSpPr>
          <p:spPr>
            <a:xfrm>
              <a:off x="277811" y="6421436"/>
              <a:ext cx="1700100" cy="360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7" name="Shape 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2150"/>
            <a:ext cx="3421200" cy="11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Shape 138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lt2"/>
              </a:buClr>
              <a:buFont typeface="Rambla"/>
              <a:buNone/>
              <a:defRPr b="1" i="0" sz="4100" u="none" cap="none" strike="noStrike">
                <a:solidFill>
                  <a:schemeClr val="lt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40" name="Shape 140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Shape 141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Shape 142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dk2"/>
              </a:buClr>
              <a:buFont typeface="Rambla"/>
              <a:buNone/>
              <a:defRPr b="1" i="0" sz="4100" u="none" cap="none" strike="noStrike">
                <a:solidFill>
                  <a:schemeClr val="dk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51" name="Shape 151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Shape 152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Shape 153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/>
        </p:nvSpPr>
        <p:spPr>
          <a:xfrm>
            <a:off x="715961" y="5002212"/>
            <a:ext cx="3802200" cy="1443000"/>
          </a:xfrm>
          <a:custGeom>
            <a:pathLst>
              <a:path extrusionOk="0" h="120000" w="120000">
                <a:moveTo>
                  <a:pt x="-6854" y="78863"/>
                </a:moveTo>
                <a:lnTo>
                  <a:pt x="149083" y="155000"/>
                </a:lnTo>
                <a:lnTo>
                  <a:pt x="108937" y="155000"/>
                </a:lnTo>
                <a:lnTo>
                  <a:pt x="-6833" y="78409"/>
                </a:lnTo>
              </a:path>
            </a:pathLst>
          </a:custGeom>
          <a:solidFill>
            <a:srgbClr val="9FCBDC">
              <a:alpha val="3961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Shape 163"/>
          <p:cNvSpPr/>
          <p:nvPr/>
        </p:nvSpPr>
        <p:spPr>
          <a:xfrm>
            <a:off x="-53975" y="5784850"/>
            <a:ext cx="3802200" cy="838200"/>
          </a:xfrm>
          <a:custGeom>
            <a:pathLst>
              <a:path extrusionOk="0" h="120000" w="120000">
                <a:moveTo>
                  <a:pt x="17020" y="22045"/>
                </a:moveTo>
                <a:lnTo>
                  <a:pt x="133500" y="155000"/>
                </a:lnTo>
                <a:lnTo>
                  <a:pt x="109000" y="155681"/>
                </a:lnTo>
                <a:lnTo>
                  <a:pt x="17270" y="2295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Shape 164"/>
          <p:cNvGrpSpPr/>
          <p:nvPr/>
        </p:nvGrpSpPr>
        <p:grpSpPr>
          <a:xfrm>
            <a:off x="-12700" y="5784850"/>
            <a:ext cx="3414600" cy="1092300"/>
            <a:chOff x="-12700" y="5784850"/>
            <a:chExt cx="3414600" cy="1092300"/>
          </a:xfrm>
        </p:grpSpPr>
        <p:pic>
          <p:nvPicPr>
            <p:cNvPr id="165" name="Shape 1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00" y="5784850"/>
              <a:ext cx="3414600" cy="10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Shape 166"/>
            <p:cNvSpPr txBox="1"/>
            <p:nvPr/>
          </p:nvSpPr>
          <p:spPr>
            <a:xfrm>
              <a:off x="277811" y="6421436"/>
              <a:ext cx="1700100" cy="360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Shape 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2150"/>
            <a:ext cx="3421200" cy="11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Shape 168"/>
          <p:cNvSpPr/>
          <p:nvPr/>
        </p:nvSpPr>
        <p:spPr>
          <a:xfrm>
            <a:off x="8664575" y="4987925"/>
            <a:ext cx="18270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38" scaled="0"/>
          </a:gradFill>
          <a:ln cap="rnd" cmpd="sng" w="9525">
            <a:solidFill>
              <a:srgbClr val="1E768C"/>
            </a:solidFill>
            <a:prstDash val="solid"/>
            <a:miter/>
            <a:headEnd len="med" w="med" type="none"/>
            <a:tailEnd len="med" w="med" type="none"/>
          </a:ln>
          <a:effectLst>
            <a:outerShdw blurRad="63500" dir="5400000" dist="25400">
              <a:srgbClr val="000000">
                <a:alpha val="45880"/>
              </a:srgbClr>
            </a:outerShdw>
          </a:effectLst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Shape 169"/>
          <p:cNvSpPr/>
          <p:nvPr/>
        </p:nvSpPr>
        <p:spPr>
          <a:xfrm>
            <a:off x="8477250" y="4987925"/>
            <a:ext cx="18270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38" scaled="0"/>
          </a:gradFill>
          <a:ln cap="rnd" cmpd="sng" w="9525">
            <a:solidFill>
              <a:srgbClr val="1E768C"/>
            </a:solidFill>
            <a:prstDash val="solid"/>
            <a:miter/>
            <a:headEnd len="med" w="med" type="none"/>
            <a:tailEnd len="med" w="med" type="none"/>
          </a:ln>
          <a:effectLst>
            <a:outerShdw blurRad="63500" dir="5400000" dist="25400">
              <a:srgbClr val="000000">
                <a:alpha val="45880"/>
              </a:srgbClr>
            </a:outerShdw>
          </a:effectLst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Shape 170"/>
          <p:cNvSpPr txBox="1"/>
          <p:nvPr>
            <p:ph type="title"/>
          </p:nvPr>
        </p:nvSpPr>
        <p:spPr>
          <a:xfrm>
            <a:off x="457200" y="27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rmAutofit/>
          </a:bodyPr>
          <a:lstStyle>
            <a:lvl1pPr indent="0" lvl="0" marL="0" marR="0" rtl="0" algn="l">
              <a:spcBef>
                <a:spcPts val="0"/>
              </a:spcBef>
              <a:buClr>
                <a:schemeClr val="lt2"/>
              </a:buClr>
              <a:buFont typeface="Rambla"/>
              <a:buNone/>
              <a:defRPr b="1" i="0" sz="4100" u="none" cap="none" strike="noStrike">
                <a:solidFill>
                  <a:schemeClr val="lt2"/>
                </a:solidFill>
                <a:effectLst>
                  <a:outerShdw blurRad="31750" rotWithShape="0" algn="tl" dir="5400000" dist="25400">
                    <a:srgbClr val="000000">
                      <a:alpha val="25000"/>
                    </a:srgbClr>
                  </a:outerShdw>
                </a:effectLst>
                <a:latin typeface="Rambla"/>
                <a:ea typeface="Rambla"/>
                <a:cs typeface="Rambla"/>
                <a:sym typeface="Rambla"/>
              </a:defRPr>
            </a:lvl1pPr>
            <a:lvl2pPr indent="0" lvl="1" rtl="0">
              <a:spcBef>
                <a:spcPts val="0"/>
              </a:spcBef>
              <a:buNone/>
              <a:defRPr sz="1800"/>
            </a:lvl2pPr>
            <a:lvl3pPr indent="0" lvl="2" rtl="0">
              <a:spcBef>
                <a:spcPts val="0"/>
              </a:spcBef>
              <a:buNone/>
              <a:defRPr sz="1800"/>
            </a:lvl3pPr>
            <a:lvl4pPr indent="0" lvl="3" rtl="0">
              <a:spcBef>
                <a:spcPts val="0"/>
              </a:spcBef>
              <a:buNone/>
              <a:defRPr sz="1800"/>
            </a:lvl4pPr>
            <a:lvl5pPr indent="0" lvl="4" rtl="0">
              <a:spcBef>
                <a:spcPts val="0"/>
              </a:spcBef>
              <a:buNone/>
              <a:defRPr sz="1800"/>
            </a:lvl5pPr>
            <a:lvl6pPr indent="0" lvl="5" rtl="0">
              <a:spcBef>
                <a:spcPts val="0"/>
              </a:spcBef>
              <a:buNone/>
              <a:defRPr sz="1800"/>
            </a:lvl6pPr>
            <a:lvl7pPr indent="0" lvl="6" rtl="0">
              <a:spcBef>
                <a:spcPts val="0"/>
              </a:spcBef>
              <a:buNone/>
              <a:defRPr sz="1800"/>
            </a:lvl7pPr>
            <a:lvl8pPr indent="0" lvl="7" rtl="0">
              <a:spcBef>
                <a:spcPts val="0"/>
              </a:spcBef>
              <a:buNone/>
              <a:defRPr sz="1800"/>
            </a:lvl8pPr>
            <a:lvl9pPr indent="0" lvl="8" rtl="0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71" name="Shape 171"/>
          <p:cNvSpPr txBox="1"/>
          <p:nvPr>
            <p:ph idx="1" type="body"/>
          </p:nvPr>
        </p:nvSpPr>
        <p:spPr>
          <a:xfrm>
            <a:off x="457200" y="14811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47573" lvl="0" marL="36576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b="0" i="0" sz="27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94741" lvl="1" marL="621792" marR="0" rtl="0" algn="l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103886" lvl="2" marL="859536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indent="-107950" lvl="3" marL="11430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9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indent="-114300" lvl="4" marL="1371600" marR="0" rtl="0" algn="l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indent="-114300" lvl="5" marL="16002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8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indent="-127000" lvl="6" marL="18288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indent="-127000" lvl="7" marL="20574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indent="-127000" lvl="8" marL="2286000" marR="0" rtl="0" algn="l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b="0" i="0" sz="1600" u="none" cap="none" strike="noStrik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/>
        </p:txBody>
      </p:sp>
      <p:sp>
        <p:nvSpPr>
          <p:cNvPr id="172" name="Shape 172"/>
          <p:cNvSpPr txBox="1"/>
          <p:nvPr>
            <p:ph idx="10" type="dt"/>
          </p:nvPr>
        </p:nvSpPr>
        <p:spPr>
          <a:xfrm>
            <a:off x="6727825" y="6408736"/>
            <a:ext cx="1919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Shape 173"/>
          <p:cNvSpPr txBox="1"/>
          <p:nvPr>
            <p:ph idx="11" type="ftr"/>
          </p:nvPr>
        </p:nvSpPr>
        <p:spPr>
          <a:xfrm>
            <a:off x="4379912" y="6408736"/>
            <a:ext cx="23510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Shape 174"/>
          <p:cNvSpPr txBox="1"/>
          <p:nvPr>
            <p:ph idx="12" type="sldNum"/>
          </p:nvPr>
        </p:nvSpPr>
        <p:spPr>
          <a:xfrm>
            <a:off x="8647112" y="6408736"/>
            <a:ext cx="366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Shape 187"/>
          <p:cNvSpPr txBox="1"/>
          <p:nvPr/>
        </p:nvSpPr>
        <p:spPr>
          <a:xfrm>
            <a:off x="1309687" y="428625"/>
            <a:ext cx="69294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in JAVA</a:t>
            </a:r>
          </a:p>
        </p:txBody>
      </p:sp>
      <p:sp>
        <p:nvSpPr>
          <p:cNvPr id="188" name="Shape 188"/>
          <p:cNvSpPr txBox="1"/>
          <p:nvPr/>
        </p:nvSpPr>
        <p:spPr>
          <a:xfrm>
            <a:off x="511175" y="1476375"/>
            <a:ext cx="33783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Shape 189"/>
          <p:cNvSpPr txBox="1"/>
          <p:nvPr/>
        </p:nvSpPr>
        <p:spPr>
          <a:xfrm>
            <a:off x="2786061" y="2500312"/>
            <a:ext cx="35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AWT &amp; SWINGS 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511175" y="2506662"/>
            <a:ext cx="3656100" cy="903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Shape 191"/>
          <p:cNvSpPr txBox="1"/>
          <p:nvPr/>
        </p:nvSpPr>
        <p:spPr>
          <a:xfrm>
            <a:off x="1857375" y="2428875"/>
            <a:ext cx="50325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192" name="Shape 192"/>
          <p:cNvSpPr txBox="1"/>
          <p:nvPr/>
        </p:nvSpPr>
        <p:spPr>
          <a:xfrm>
            <a:off x="4071937" y="5143500"/>
            <a:ext cx="4886399" cy="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rmAutofit/>
          </a:bodyPr>
          <a:lstStyle/>
          <a:p>
            <a:pPr indent="-26352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</a:pPr>
            <a:r>
              <a:rPr b="0" i="0" lang="en-US" sz="2700" u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Dr. Reema Ajmera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Shape 198"/>
          <p:cNvSpPr txBox="1"/>
          <p:nvPr/>
        </p:nvSpPr>
        <p:spPr>
          <a:xfrm>
            <a:off x="1309687" y="492125"/>
            <a:ext cx="69294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 of today Presentation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511175" y="1476375"/>
            <a:ext cx="33783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GUI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168275" y="1516062"/>
            <a:ext cx="487500" cy="4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511175" y="1990725"/>
            <a:ext cx="3510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AWT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11175" y="2506662"/>
            <a:ext cx="3656100" cy="903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Swing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11175" y="3022600"/>
            <a:ext cx="50325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b/w Swing and Awt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511175" y="3536950"/>
            <a:ext cx="9852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we'll recomend to use "SWING"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Component,Container,Panels,window,Frame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Implemention of JFrame and Adding component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add component directly on frame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with NETBEANS to make GUI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Shape 210"/>
          <p:cNvSpPr txBox="1"/>
          <p:nvPr/>
        </p:nvSpPr>
        <p:spPr>
          <a:xfrm>
            <a:off x="1309687" y="544511"/>
            <a:ext cx="85851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GUI( graphical user interface)?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509587" y="1433512"/>
            <a:ext cx="90027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8890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GUI (pronounced “GOO-ee”) gives an application a</a:t>
            </a:r>
          </a:p>
          <a:p>
            <a:pPr indent="0" lvl="0" marL="8890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distinctive “look and feel.”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166687" y="1473200"/>
            <a:ext cx="487500" cy="14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9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509587" y="2289175"/>
            <a:ext cx="9248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graphical user interface is a visual interface to a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program. GUIs are built from GUI components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(buttons,menus, labels etc). A GUI component is an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with which the user interacts via the mouse or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keyboard.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509587" y="4297362"/>
            <a:ext cx="95028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Together, the appearance and how user interacts with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program are known as the program "look and feel".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166687" y="4335462"/>
            <a:ext cx="4875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9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16" name="Shape 216"/>
          <p:cNvSpPr txBox="1"/>
          <p:nvPr/>
        </p:nvSpPr>
        <p:spPr>
          <a:xfrm>
            <a:off x="509587" y="5153025"/>
            <a:ext cx="93441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classes that are used t o create GUI components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part of the java.awt or javax.swin g package.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these packages provide rich set of user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components.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Shape 222"/>
          <p:cNvSpPr txBox="1"/>
          <p:nvPr/>
        </p:nvSpPr>
        <p:spPr>
          <a:xfrm>
            <a:off x="1309687" y="492125"/>
            <a:ext cx="7570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vs Non-GUI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812800" y="1433512"/>
            <a:ext cx="90441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classes present in the awt and swing packages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classified into two broad categories. GUI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&amp; Non-GUI Support classes.</a:t>
            </a:r>
          </a:p>
        </p:txBody>
      </p:sp>
      <p:sp>
        <p:nvSpPr>
          <p:cNvPr id="224" name="Shape 224"/>
          <p:cNvSpPr txBox="1"/>
          <p:nvPr/>
        </p:nvSpPr>
        <p:spPr>
          <a:xfrm>
            <a:off x="469900" y="1473200"/>
            <a:ext cx="4875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9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25" name="Shape 225"/>
          <p:cNvSpPr txBox="1"/>
          <p:nvPr/>
        </p:nvSpPr>
        <p:spPr>
          <a:xfrm>
            <a:off x="812800" y="2673350"/>
            <a:ext cx="88137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GUI classes as the name indicates are visible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user can interact with them. Examples of these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JButton, JFrame &amp; JRadioButton etc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812800" y="3911600"/>
            <a:ext cx="89376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Non-GUI support classes provide services and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necessary functions for GUI classes. They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produce any visual output. Examples of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classes are Layout managers &amp; Event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handling(will discussed latter by another group)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Shape 232"/>
          <p:cNvSpPr txBox="1"/>
          <p:nvPr/>
        </p:nvSpPr>
        <p:spPr>
          <a:xfrm>
            <a:off x="1309687" y="492125"/>
            <a:ext cx="3762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AWT?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738187" y="1087437"/>
            <a:ext cx="9264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762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 T stands for Abstract Windowing Toolkit contains original</a:t>
            </a:r>
          </a:p>
          <a:p>
            <a:pPr indent="0" lvl="0" marL="762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not pure GUI components that came with the first release</a:t>
            </a:r>
          </a:p>
          <a:p>
            <a:pPr indent="0" lvl="0" marL="762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JDK.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395287" y="1122362"/>
            <a:ext cx="4158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77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738187" y="2260600"/>
            <a:ext cx="88695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components are tied directly to the local platform‘s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(Windows, Linux, MAC etc)graphical user interface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capabilities. Thus results in a java program executing on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java platforms(windows, Linux, Solaris etc) has a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appearance and sometimes even different user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 on each platform.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738187" y="4530725"/>
            <a:ext cx="85851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 T components are often called Heavy Weight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(HWC) as they rely on the local platform‘s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windowing system.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395287" y="456406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738187" y="5703887"/>
            <a:ext cx="8794800" cy="1139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 T component it creates a corresponding process on the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system.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395287" y="5738812"/>
            <a:ext cx="415800" cy="127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48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738186" y="6511925"/>
            <a:ext cx="6326099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Inshort component of AW T are OS depended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Shape 246"/>
          <p:cNvSpPr txBox="1"/>
          <p:nvPr/>
        </p:nvSpPr>
        <p:spPr>
          <a:xfrm>
            <a:off x="1309687" y="492125"/>
            <a:ext cx="3456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Swing</a:t>
            </a:r>
          </a:p>
        </p:txBody>
      </p:sp>
      <p:sp>
        <p:nvSpPr>
          <p:cNvPr id="247" name="Shape 247"/>
          <p:cNvSpPr txBox="1"/>
          <p:nvPr/>
        </p:nvSpPr>
        <p:spPr>
          <a:xfrm>
            <a:off x="738187" y="1685925"/>
            <a:ext cx="91392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are the newest GUI components. Swing components</a:t>
            </a:r>
          </a:p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written, manipulated and displayed completely in java,</a:t>
            </a:r>
          </a:p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 also called </a:t>
            </a: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components. The swing</a:t>
            </a:r>
          </a:p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s allow the programmer to specify a</a:t>
            </a:r>
          </a:p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</a:t>
            </a: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and feel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across all platforms.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395287" y="171926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738187" y="3222625"/>
            <a:ext cx="5888099" cy="26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javax.swing package is use to import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dedpend on operating system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99% have lightweight components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rich set of class whic contain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Jpanels,Jbutton,JTextarea,...............and so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start from J of swing class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395287" y="3257550"/>
            <a:ext cx="4158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1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1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1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1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1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/>
          <p:cNvSpPr txBox="1"/>
          <p:nvPr/>
        </p:nvSpPr>
        <p:spPr>
          <a:xfrm>
            <a:off x="1309687" y="703261"/>
            <a:ext cx="8124900" cy="77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1" i="0" lang="en-US" sz="24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Superclasses of Swing’s Lightweight GUI Components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66687" y="1303337"/>
            <a:ext cx="8909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Arimo"/>
              <a:buNone/>
            </a:pPr>
            <a:r>
              <a:rPr b="0" i="0" lang="en-US" sz="1800" u="none">
                <a:solidFill>
                  <a:srgbClr val="BF00FF"/>
                </a:solidFill>
                <a:latin typeface="Arimo"/>
                <a:ea typeface="Arimo"/>
                <a:cs typeface="Arimo"/>
                <a:sym typeface="Arimo"/>
              </a:rPr>
              <a:t>The Fig. shows an inheritance hierarchy of classes from which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Arimo"/>
              <a:buNone/>
            </a:pPr>
            <a:r>
              <a:rPr b="0" i="0" lang="en-US" sz="1800" u="none">
                <a:solidFill>
                  <a:srgbClr val="BF00FF"/>
                </a:solidFill>
                <a:latin typeface="Arimo"/>
                <a:ea typeface="Arimo"/>
                <a:cs typeface="Arimo"/>
                <a:sym typeface="Arimo"/>
              </a:rPr>
              <a:t>lightweight Swing components inherit their common attributes and behaviors.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Shape 263"/>
          <p:cNvSpPr txBox="1"/>
          <p:nvPr/>
        </p:nvSpPr>
        <p:spPr>
          <a:xfrm>
            <a:off x="2066925" y="492125"/>
            <a:ext cx="57879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Swing vs AW T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814386" y="1476375"/>
            <a:ext cx="28131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independent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5180012" y="1476375"/>
            <a:ext cx="2714699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dedpendent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weight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471487" y="1516062"/>
            <a:ext cx="487499" cy="1576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4837112" y="1516062"/>
            <a:ext cx="487500" cy="1576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814386" y="1990725"/>
            <a:ext cx="23589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weight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814386" y="2506662"/>
            <a:ext cx="3810000" cy="1330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on Write once use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anywhere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5180011" y="2506662"/>
            <a:ext cx="3295499" cy="1330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consistent as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to Swing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814386" y="3448050"/>
            <a:ext cx="23859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feel and look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5180011" y="3448050"/>
            <a:ext cx="4016399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behaviour due to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</a:p>
        </p:txBody>
      </p:sp>
      <p:sp>
        <p:nvSpPr>
          <p:cNvPr id="273" name="Shape 273"/>
          <p:cNvSpPr txBox="1"/>
          <p:nvPr/>
        </p:nvSpPr>
        <p:spPr>
          <a:xfrm>
            <a:off x="471487" y="3487737"/>
            <a:ext cx="487499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4837112" y="3487737"/>
            <a:ext cx="4875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814386" y="3962400"/>
            <a:ext cx="2910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rich set of object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5180011" y="4389437"/>
            <a:ext cx="3390899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as compared to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Shape 282"/>
          <p:cNvSpPr txBox="1"/>
          <p:nvPr/>
        </p:nvSpPr>
        <p:spPr>
          <a:xfrm>
            <a:off x="1309687" y="492125"/>
            <a:ext cx="30336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diff.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Shape 288"/>
          <p:cNvSpPr txBox="1"/>
          <p:nvPr/>
        </p:nvSpPr>
        <p:spPr>
          <a:xfrm>
            <a:off x="1309687" y="492125"/>
            <a:ext cx="5753099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prefer to Swing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469900" y="1484312"/>
            <a:ext cx="9255000" cy="15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42900" marR="0" rtl="0" algn="l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Basis of last slide that we disscused so we</a:t>
            </a:r>
          </a:p>
          <a:p>
            <a:pPr indent="0" lvl="0" marL="34290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say that Swing is better becoz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469900" y="2560637"/>
            <a:ext cx="3541800" cy="1033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depend on OS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469900" y="3149600"/>
            <a:ext cx="25653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weight</a:t>
            </a:r>
          </a:p>
        </p:txBody>
      </p:sp>
      <p:sp>
        <p:nvSpPr>
          <p:cNvPr id="292" name="Shape 292"/>
          <p:cNvSpPr txBox="1"/>
          <p:nvPr/>
        </p:nvSpPr>
        <p:spPr>
          <a:xfrm>
            <a:off x="469900" y="3738562"/>
            <a:ext cx="55944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version of JDK</a:t>
            </a:r>
          </a:p>
          <a:p>
            <a:pPr indent="0" lvl="0" marL="0" marR="0" rtl="0" algn="l">
              <a:lnSpc>
                <a:spcPct val="103125"/>
              </a:lnSpc>
              <a:spcBef>
                <a:spcPts val="13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once use anywhere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Shape 298"/>
          <p:cNvSpPr txBox="1"/>
          <p:nvPr/>
        </p:nvSpPr>
        <p:spPr>
          <a:xfrm>
            <a:off x="1309687" y="492125"/>
            <a:ext cx="3133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812800" y="1255712"/>
            <a:ext cx="84075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top of the AWT hierarchy is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theComponentclass.Componentis an abstract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that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469900" y="1301750"/>
            <a:ext cx="5478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9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12800" y="2819400"/>
            <a:ext cx="91629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encapsulates all of the attributes of a visual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component. All user interface elements that are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displayed on the screen and that interact with the</a:t>
            </a:r>
          </a:p>
          <a:p>
            <a:pPr indent="0" lvl="0" marL="0" marR="0" rtl="0" algn="l">
              <a:lnSpc>
                <a:spcPct val="103125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are subclasses ofComponent. It defines over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hundred public methods that are responsible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managing events, such as mouse and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 input, positioning and sizing the</a:t>
            </a:r>
          </a:p>
          <a:p>
            <a:pPr indent="0" lvl="0" marL="0" marR="0" rtl="0" algn="l">
              <a:lnSpc>
                <a:spcPct val="103125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window, and repainting.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Shape 307"/>
          <p:cNvSpPr txBox="1"/>
          <p:nvPr/>
        </p:nvSpPr>
        <p:spPr>
          <a:xfrm>
            <a:off x="1309687" y="492125"/>
            <a:ext cx="5262599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examples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2800" y="1460500"/>
            <a:ext cx="5681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JButton button = new JButton("Click me!");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469900" y="1487487"/>
            <a:ext cx="344400" cy="3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812800" y="1828800"/>
            <a:ext cx="5900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JLabel label = new JLabel("This is a JLabel");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812800" y="2197100"/>
            <a:ext cx="83931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JTextField textField1 = new JTextField("This is the initial text");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JTextField textField2 = new JTextField("Initial text", columns);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JTextArea textArea1 = new JTextArea("Initial text");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812800" y="3302000"/>
            <a:ext cx="8886900" cy="1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JTextArea textArea2 = new JTextArea(rows, columns);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JTextArea textArea3 = new JTextArea("Initial text", rows, columns);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JCheckBox checkbox = new JCheckBox("Label for checkbox");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JRadioButton radioButton1 = new JRadioButton("Label for button");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812800" y="4775200"/>
            <a:ext cx="5432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ButtonGroup group = new ButtonGroup();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812800" y="5080000"/>
            <a:ext cx="7275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group.add(radioButton1); group.add(radioButton2); 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812800" y="5753100"/>
            <a:ext cx="912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just a sampling of the available constructors; see the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javax.swing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469900" y="5781675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812800" y="6057900"/>
            <a:ext cx="1801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the rest</a:t>
            </a:r>
          </a:p>
        </p:txBody>
      </p:sp>
      <p:sp>
        <p:nvSpPr>
          <p:cNvPr id="318" name="Shape 318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1309687" y="492125"/>
            <a:ext cx="27654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812800" y="1390650"/>
            <a:ext cx="9048600" cy="2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TheContainerclass is a subclass ofComponent. It has</a:t>
            </a:r>
          </a:p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methods that allow other Componentobjects</a:t>
            </a:r>
          </a:p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nested within it. OtherContainerobjects can be</a:t>
            </a:r>
          </a:p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inside of a Container(since they are themselves</a:t>
            </a:r>
          </a:p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instances ofComponent). This makes for a multileveled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469900" y="1430337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469900" y="3186111"/>
            <a:ext cx="9507600" cy="3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4290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containment system. A container is responsible for</a:t>
            </a:r>
          </a:p>
          <a:p>
            <a:pPr indent="0" lvl="0" marL="34290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laying out (that is, positioning)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important methods the container class has </a:t>
            </a: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and setLayout.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are classified into two broad categories that are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Level containers andGeneral Purpose Containers Top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containers can contain (add) other containers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well as basic components (buttons, labels etc) while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purpose containers are typically used to collect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basiccomponents and are added to top level containers.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Shape 333"/>
          <p:cNvSpPr txBox="1"/>
          <p:nvPr/>
        </p:nvSpPr>
        <p:spPr>
          <a:xfrm>
            <a:off x="1309687" y="492125"/>
            <a:ext cx="18906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812800" y="1476375"/>
            <a:ext cx="88011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ThePanelclass is a concrete subclass ofContainer. It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add any new methods; </a:t>
            </a: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simply implements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 Panel may be thought of as a recursively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nestable, concrete screen component.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469900" y="1516062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36" name="Shape 336"/>
          <p:cNvSpPr txBox="1"/>
          <p:nvPr/>
        </p:nvSpPr>
        <p:spPr>
          <a:xfrm>
            <a:off x="812800" y="3270250"/>
            <a:ext cx="89280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screen output is directed to an Frame/applet,it is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drawn on the surface of a Panel object.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469900" y="3311525"/>
            <a:ext cx="4875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812800" y="4213225"/>
            <a:ext cx="91137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Panelis a window that does not contain a title bar, menu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bar, or border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Shape 344"/>
          <p:cNvSpPr txBox="1"/>
          <p:nvPr/>
        </p:nvSpPr>
        <p:spPr>
          <a:xfrm>
            <a:off x="1309687" y="492125"/>
            <a:ext cx="2511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</a:t>
            </a:r>
          </a:p>
        </p:txBody>
      </p:sp>
      <p:sp>
        <p:nvSpPr>
          <p:cNvPr id="345" name="Shape 345"/>
          <p:cNvSpPr txBox="1"/>
          <p:nvPr/>
        </p:nvSpPr>
        <p:spPr>
          <a:xfrm>
            <a:off x="812800" y="1492250"/>
            <a:ext cx="90789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TheWindowclass creates a top-level</a:t>
            </a:r>
          </a:p>
          <a:p>
            <a:pPr indent="0" lvl="0" marL="0" marR="0" rtl="0" algn="l">
              <a:lnSpc>
                <a:spcPct val="102777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 A top-level window is not</a:t>
            </a:r>
          </a:p>
          <a:p>
            <a:pPr indent="0" lvl="0" marL="0" marR="0" rtl="0" algn="l">
              <a:lnSpc>
                <a:spcPct val="102777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contained within any other object; it sits</a:t>
            </a:r>
          </a:p>
          <a:p>
            <a:pPr indent="0" lvl="0" marL="0" marR="0" rtl="0" algn="l">
              <a:lnSpc>
                <a:spcPct val="102777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 on the desktop. Generally, you</a:t>
            </a:r>
          </a:p>
          <a:p>
            <a:pPr indent="0" lvl="0" marL="0" marR="0" rtl="0" algn="l">
              <a:lnSpc>
                <a:spcPct val="102777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won’t createWindowobjects directly.</a:t>
            </a:r>
          </a:p>
          <a:p>
            <a:pPr indent="0" lvl="0" marL="0" marR="0" rtl="0" algn="l">
              <a:lnSpc>
                <a:spcPct val="102777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Instead, you will use a subclass of Window</a:t>
            </a:r>
          </a:p>
          <a:p>
            <a:pPr indent="0" lvl="0" marL="0" marR="0" rtl="0" algn="l">
              <a:lnSpc>
                <a:spcPct val="102777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called </a:t>
            </a:r>
            <a:r>
              <a:rPr b="0" i="0" lang="en-US" sz="36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</a:t>
            </a: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described next.</a:t>
            </a:r>
          </a:p>
        </p:txBody>
      </p:sp>
      <p:sp>
        <p:nvSpPr>
          <p:cNvPr id="346" name="Shape 346"/>
          <p:cNvSpPr txBox="1"/>
          <p:nvPr/>
        </p:nvSpPr>
        <p:spPr>
          <a:xfrm>
            <a:off x="469900" y="1544637"/>
            <a:ext cx="619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21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Shape 352"/>
          <p:cNvSpPr txBox="1"/>
          <p:nvPr/>
        </p:nvSpPr>
        <p:spPr>
          <a:xfrm>
            <a:off x="1309687" y="492125"/>
            <a:ext cx="20589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</a:t>
            </a:r>
          </a:p>
        </p:txBody>
      </p:sp>
      <p:sp>
        <p:nvSpPr>
          <p:cNvPr id="353" name="Shape 353"/>
          <p:cNvSpPr txBox="1"/>
          <p:nvPr/>
        </p:nvSpPr>
        <p:spPr>
          <a:xfrm>
            <a:off x="812800" y="1476375"/>
            <a:ext cx="9240900" cy="17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 encapsulates what is commonly thought of as a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“window.” It is a subclass of </a:t>
            </a: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has a title </a:t>
            </a: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bar,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 bar, borders, and resizing corners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54" name="Shape 354"/>
          <p:cNvSpPr txBox="1"/>
          <p:nvPr/>
        </p:nvSpPr>
        <p:spPr>
          <a:xfrm>
            <a:off x="469900" y="1516062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812800" y="2844800"/>
            <a:ext cx="57324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contain </a:t>
            </a: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Jlabel,textarea,button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469900" y="2884486"/>
            <a:ext cx="487500" cy="10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812800" y="3359150"/>
            <a:ext cx="87138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previous hierarchy we observe that </a:t>
            </a: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is a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 is a window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So, it can be interpreted as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is a window.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812800" y="4727575"/>
            <a:ext cx="27177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</a:t>
            </a: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469900" y="4767262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Shape 365"/>
          <p:cNvSpPr txBox="1"/>
          <p:nvPr/>
        </p:nvSpPr>
        <p:spPr>
          <a:xfrm>
            <a:off x="1309687" y="492125"/>
            <a:ext cx="48195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build a GUI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812800" y="1468437"/>
            <a:ext cx="89487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window in which to display things—usually a 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JFrame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(for an application), or a 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JApplet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469900" y="1503362"/>
            <a:ext cx="415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48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812800" y="2276475"/>
            <a:ext cx="8181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setLayout(LayoutManager </a:t>
            </a:r>
            <a:r>
              <a:rPr b="1" i="1" lang="en-US" sz="24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to</a:t>
            </a:r>
          </a:p>
        </p:txBody>
      </p:sp>
      <p:sp>
        <p:nvSpPr>
          <p:cNvPr id="369" name="Shape 369"/>
          <p:cNvSpPr txBox="1"/>
          <p:nvPr/>
        </p:nvSpPr>
        <p:spPr>
          <a:xfrm>
            <a:off x="812800" y="2641600"/>
            <a:ext cx="35211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a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layout manager</a:t>
            </a:r>
          </a:p>
        </p:txBody>
      </p:sp>
      <p:sp>
        <p:nvSpPr>
          <p:cNvPr id="370" name="Shape 370"/>
          <p:cNvSpPr txBox="1"/>
          <p:nvPr/>
        </p:nvSpPr>
        <p:spPr>
          <a:xfrm>
            <a:off x="812800" y="3082925"/>
            <a:ext cx="7810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some 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 such as buttons, panels, etc.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469900" y="3116261"/>
            <a:ext cx="415800" cy="908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19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812800" y="3524250"/>
            <a:ext cx="86409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your components to your display area, according to your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chosen layout manager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812800" y="4332287"/>
            <a:ext cx="8396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some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Listeners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attach them to your 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469900" y="436721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1212850" y="4752975"/>
            <a:ext cx="6526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Interacting with a Component causes an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Event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occur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927100" y="4781550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1212850" y="5121275"/>
            <a:ext cx="8596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Listener gets a message when an interesting event occurs, and executes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927100" y="5149850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1212850" y="5426075"/>
            <a:ext cx="2930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code to deal with it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812800" y="5815012"/>
            <a:ext cx="3105300" cy="77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your window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469900" y="5849937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Shape 388"/>
          <p:cNvSpPr txBox="1"/>
          <p:nvPr/>
        </p:nvSpPr>
        <p:spPr>
          <a:xfrm>
            <a:off x="1309687" y="492125"/>
            <a:ext cx="7134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and 2: Code for JFrame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471486" y="1436687"/>
            <a:ext cx="33765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pakages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MyFirstFrame{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471486" y="2324100"/>
            <a:ext cx="4545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main(String[] args) {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814386" y="2690811"/>
            <a:ext cx="4125900" cy="182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3175" lvl="0" marL="168275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myFrame=new</a:t>
            </a:r>
          </a:p>
          <a:p>
            <a:pPr indent="-3175" lvl="0" marL="16827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JFrame("my frame");</a:t>
            </a:r>
          </a:p>
          <a:p>
            <a:pPr indent="-3175" lvl="0" marL="1682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myFrame.setSize(500, 500);//size</a:t>
            </a:r>
          </a:p>
          <a:p>
            <a:pPr indent="-3175" lvl="0" marL="1682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frame widht and height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471486" y="4129087"/>
            <a:ext cx="36561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3175" lvl="0" marL="511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myFrame.setVisible(true);</a:t>
            </a:r>
          </a:p>
          <a:p>
            <a:pPr indent="-3175" lvl="0" marL="51117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//this v.impt visibilty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814386" y="5080000"/>
            <a:ext cx="42258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myFrame.setDefaultCloseOperation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(JFrame.EXIT_ON_CLOSE);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471486" y="5691187"/>
            <a:ext cx="758699" cy="982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indent="0" lvl="0" marL="254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Shape 400"/>
          <p:cNvSpPr txBox="1"/>
          <p:nvPr/>
        </p:nvSpPr>
        <p:spPr>
          <a:xfrm>
            <a:off x="1309687" y="492125"/>
            <a:ext cx="85152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step#3: code for getting content area</a:t>
            </a:r>
          </a:p>
        </p:txBody>
      </p:sp>
      <p:sp>
        <p:nvSpPr>
          <p:cNvPr id="401" name="Shape 401"/>
          <p:cNvSpPr txBox="1"/>
          <p:nvPr/>
        </p:nvSpPr>
        <p:spPr>
          <a:xfrm>
            <a:off x="125411" y="1433512"/>
            <a:ext cx="4751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myFrame=new JFrame("my frame");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1098550" y="1738312"/>
            <a:ext cx="29892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myFrame.setSize(333, 333);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myFrame.setVisible(true);</a:t>
            </a:r>
          </a:p>
        </p:txBody>
      </p:sp>
      <p:sp>
        <p:nvSpPr>
          <p:cNvPr id="403" name="Shape 403"/>
          <p:cNvSpPr txBox="1"/>
          <p:nvPr/>
        </p:nvSpPr>
        <p:spPr>
          <a:xfrm>
            <a:off x="468311" y="2590800"/>
            <a:ext cx="4732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myFrame.setDefaultCloseOperation(JFrame.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EXIT_ON_CLOSE);</a:t>
            </a:r>
          </a:p>
        </p:txBody>
      </p:sp>
      <p:sp>
        <p:nvSpPr>
          <p:cNvPr id="404" name="Shape 404"/>
          <p:cNvSpPr txBox="1"/>
          <p:nvPr/>
        </p:nvSpPr>
        <p:spPr>
          <a:xfrm>
            <a:off x="468311" y="3178175"/>
            <a:ext cx="27798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1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c =</a:t>
            </a:r>
          </a:p>
        </p:txBody>
      </p:sp>
      <p:sp>
        <p:nvSpPr>
          <p:cNvPr id="405" name="Shape 405"/>
          <p:cNvSpPr txBox="1"/>
          <p:nvPr/>
        </p:nvSpPr>
        <p:spPr>
          <a:xfrm>
            <a:off x="125412" y="3217861"/>
            <a:ext cx="487500" cy="545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468311" y="3562350"/>
            <a:ext cx="47355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1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myFrame.getContentPane(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1" i="0" lang="en-US" sz="28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468311" y="5199062"/>
            <a:ext cx="47640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now we are able to add component in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area of frame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125412" y="522763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Shape 414"/>
          <p:cNvSpPr txBox="1"/>
          <p:nvPr/>
        </p:nvSpPr>
        <p:spPr>
          <a:xfrm>
            <a:off x="1309687" y="492125"/>
            <a:ext cx="79614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step#4: code for Applaying layout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1387475" y="1401762"/>
            <a:ext cx="51087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635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myFrame=new JFrame("title of frame");</a:t>
            </a:r>
          </a:p>
          <a:p>
            <a:pPr indent="-6350" lvl="0" marL="571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myFrame.setSize(333, 333);</a:t>
            </a:r>
          </a:p>
          <a:p>
            <a:pPr indent="-6350" lvl="0" marL="571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myFrame.setVisible(true);</a:t>
            </a:r>
          </a:p>
        </p:txBody>
      </p:sp>
      <p:sp>
        <p:nvSpPr>
          <p:cNvPr id="416" name="Shape 416"/>
          <p:cNvSpPr txBox="1"/>
          <p:nvPr/>
        </p:nvSpPr>
        <p:spPr>
          <a:xfrm>
            <a:off x="1387475" y="2230437"/>
            <a:ext cx="6966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myFrame.setDefaultCloseOperation(JFrame.EXIT_ON_CLOSE);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1181100" y="2549525"/>
            <a:ext cx="7258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3175" lvl="0" marL="206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0023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3C0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c = myFrame.getContent Pane();</a:t>
            </a:r>
          </a:p>
          <a:p>
            <a:pPr indent="-3175" lvl="0" marL="206375" marR="0" rtl="0" algn="l">
              <a:lnSpc>
                <a:spcPct val="102777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36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c.setLayout( new FlowLayout());</a:t>
            </a:r>
          </a:p>
        </p:txBody>
      </p:sp>
      <p:sp>
        <p:nvSpPr>
          <p:cNvPr id="418" name="Shape 418"/>
          <p:cNvSpPr txBox="1"/>
          <p:nvPr/>
        </p:nvSpPr>
        <p:spPr>
          <a:xfrm>
            <a:off x="815975" y="4419600"/>
            <a:ext cx="9220200" cy="20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different method of layout but we will use one</a:t>
            </a:r>
          </a:p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code and introduce all in the next slide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purpose of layout that how they component are</a:t>
            </a:r>
          </a:p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apear in frame</a:t>
            </a:r>
          </a:p>
        </p:txBody>
      </p:sp>
      <p:sp>
        <p:nvSpPr>
          <p:cNvPr id="419" name="Shape 419"/>
          <p:cNvSpPr txBox="1"/>
          <p:nvPr/>
        </p:nvSpPr>
        <p:spPr>
          <a:xfrm>
            <a:off x="473075" y="4459287"/>
            <a:ext cx="5190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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Shape 425"/>
          <p:cNvSpPr txBox="1"/>
          <p:nvPr/>
        </p:nvSpPr>
        <p:spPr>
          <a:xfrm>
            <a:off x="1309687" y="492125"/>
            <a:ext cx="84582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create &amp; add components</a:t>
            </a:r>
          </a:p>
        </p:txBody>
      </p:sp>
      <p:sp>
        <p:nvSpPr>
          <p:cNvPr id="426" name="Shape 426"/>
          <p:cNvSpPr txBox="1"/>
          <p:nvPr/>
        </p:nvSpPr>
        <p:spPr>
          <a:xfrm>
            <a:off x="471486" y="1762125"/>
            <a:ext cx="31401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JTextField t f = new</a:t>
            </a:r>
          </a:p>
        </p:txBody>
      </p:sp>
      <p:sp>
        <p:nvSpPr>
          <p:cNvPr id="427" name="Shape 427"/>
          <p:cNvSpPr txBox="1"/>
          <p:nvPr/>
        </p:nvSpPr>
        <p:spPr>
          <a:xfrm>
            <a:off x="814386" y="2054225"/>
            <a:ext cx="2409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JTextField(10) ;</a:t>
            </a:r>
          </a:p>
        </p:txBody>
      </p:sp>
      <p:sp>
        <p:nvSpPr>
          <p:cNvPr id="428" name="Shape 428"/>
          <p:cNvSpPr txBox="1"/>
          <p:nvPr/>
        </p:nvSpPr>
        <p:spPr>
          <a:xfrm>
            <a:off x="471486" y="2422525"/>
            <a:ext cx="2847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b1 = new</a:t>
            </a:r>
          </a:p>
        </p:txBody>
      </p:sp>
      <p:sp>
        <p:nvSpPr>
          <p:cNvPr id="429" name="Shape 429"/>
          <p:cNvSpPr txBox="1"/>
          <p:nvPr/>
        </p:nvSpPr>
        <p:spPr>
          <a:xfrm>
            <a:off x="814386" y="2714625"/>
            <a:ext cx="3427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JButton( "My Button");</a:t>
            </a:r>
          </a:p>
        </p:txBody>
      </p:sp>
      <p:sp>
        <p:nvSpPr>
          <p:cNvPr id="430" name="Shape 430"/>
          <p:cNvSpPr txBox="1"/>
          <p:nvPr/>
        </p:nvSpPr>
        <p:spPr>
          <a:xfrm>
            <a:off x="471486" y="3082925"/>
            <a:ext cx="46116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429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b2= new JButton("My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2nd Button");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b=new Button("Awt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button");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//Adding commponent to</a:t>
            </a:r>
          </a:p>
          <a:p>
            <a:pPr indent="0" lvl="0" marL="3429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c.add(tf);</a:t>
            </a:r>
          </a:p>
        </p:txBody>
      </p:sp>
      <p:sp>
        <p:nvSpPr>
          <p:cNvPr id="431" name="Shape 431"/>
          <p:cNvSpPr txBox="1"/>
          <p:nvPr/>
        </p:nvSpPr>
        <p:spPr>
          <a:xfrm>
            <a:off x="471486" y="5434012"/>
            <a:ext cx="1701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c.add(b1);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Shape 437"/>
          <p:cNvSpPr txBox="1"/>
          <p:nvPr/>
        </p:nvSpPr>
        <p:spPr>
          <a:xfrm>
            <a:off x="1309687" y="650875"/>
            <a:ext cx="82059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1" i="0" lang="en-US" sz="28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 set size of frame and make it visible</a:t>
            </a:r>
          </a:p>
        </p:txBody>
      </p:sp>
      <p:sp>
        <p:nvSpPr>
          <p:cNvPr id="438" name="Shape 438"/>
          <p:cNvSpPr txBox="1"/>
          <p:nvPr/>
        </p:nvSpPr>
        <p:spPr>
          <a:xfrm>
            <a:off x="471486" y="1908175"/>
            <a:ext cx="46260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429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myFrame.setDefaultCloseOperat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ion(JFrame.EXIT_ON_CLOS</a:t>
            </a:r>
          </a:p>
          <a:p>
            <a:pPr indent="0" lvl="0" marL="34290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E);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471486" y="3082925"/>
            <a:ext cx="38940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myFrame.setSize(200,150);</a:t>
            </a:r>
          </a:p>
          <a:p>
            <a:pPr indent="0" lvl="0" marL="0" marR="0" rtl="0" algn="l">
              <a:lnSpc>
                <a:spcPct val="104166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myFrame.setVisible(true);</a:t>
            </a:r>
          </a:p>
          <a:p>
            <a:pPr indent="0" lvl="0" marL="0" marR="0" rtl="0" algn="l">
              <a:lnSpc>
                <a:spcPct val="104166"/>
              </a:lnSpc>
              <a:spcBef>
                <a:spcPts val="9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Shape 445"/>
          <p:cNvSpPr txBox="1"/>
          <p:nvPr/>
        </p:nvSpPr>
        <p:spPr>
          <a:xfrm>
            <a:off x="1309687" y="492125"/>
            <a:ext cx="5264099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layout manager</a:t>
            </a:r>
          </a:p>
        </p:txBody>
      </p:sp>
      <p:sp>
        <p:nvSpPr>
          <p:cNvPr id="446" name="Shape 446"/>
          <p:cNvSpPr txBox="1"/>
          <p:nvPr/>
        </p:nvSpPr>
        <p:spPr>
          <a:xfrm>
            <a:off x="812800" y="1390650"/>
            <a:ext cx="67215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important layout managers are:</a:t>
            </a:r>
          </a:p>
        </p:txBody>
      </p:sp>
      <p:sp>
        <p:nvSpPr>
          <p:cNvPr id="447" name="Shape 447"/>
          <p:cNvSpPr txBox="1"/>
          <p:nvPr/>
        </p:nvSpPr>
        <p:spPr>
          <a:xfrm>
            <a:off x="469900" y="1430337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48" name="Shape 448"/>
          <p:cNvSpPr txBox="1"/>
          <p:nvPr/>
        </p:nvSpPr>
        <p:spPr>
          <a:xfrm>
            <a:off x="1212850" y="1811337"/>
            <a:ext cx="2281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BorderLayout</a:t>
            </a:r>
          </a:p>
        </p:txBody>
      </p:sp>
      <p:sp>
        <p:nvSpPr>
          <p:cNvPr id="449" name="Shape 449"/>
          <p:cNvSpPr txBox="1"/>
          <p:nvPr/>
        </p:nvSpPr>
        <p:spPr>
          <a:xfrm>
            <a:off x="927100" y="184626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50" name="Shape 450"/>
          <p:cNvSpPr txBox="1"/>
          <p:nvPr/>
        </p:nvSpPr>
        <p:spPr>
          <a:xfrm>
            <a:off x="1612900" y="2171700"/>
            <a:ext cx="6000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five areas into which you can put compon</a:t>
            </a:r>
          </a:p>
        </p:txBody>
      </p:sp>
      <p:sp>
        <p:nvSpPr>
          <p:cNvPr id="451" name="Shape 451"/>
          <p:cNvSpPr txBox="1"/>
          <p:nvPr/>
        </p:nvSpPr>
        <p:spPr>
          <a:xfrm>
            <a:off x="1384300" y="2200275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1612900" y="2478087"/>
            <a:ext cx="7613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default layout manager for both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JFrame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JApplet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1384300" y="2506662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54" name="Shape 454"/>
          <p:cNvSpPr txBox="1"/>
          <p:nvPr/>
        </p:nvSpPr>
        <p:spPr>
          <a:xfrm>
            <a:off x="1212850" y="2794000"/>
            <a:ext cx="20130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FlowLayout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927100" y="282892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56" name="Shape 456"/>
          <p:cNvSpPr txBox="1"/>
          <p:nvPr/>
        </p:nvSpPr>
        <p:spPr>
          <a:xfrm>
            <a:off x="1612900" y="3154361"/>
            <a:ext cx="5796000" cy="64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are added left to right, top to bottom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1384300" y="3181350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58" name="Shape 458"/>
          <p:cNvSpPr txBox="1"/>
          <p:nvPr/>
        </p:nvSpPr>
        <p:spPr>
          <a:xfrm>
            <a:off x="1212850" y="3470275"/>
            <a:ext cx="1954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GridLayout</a:t>
            </a:r>
          </a:p>
        </p:txBody>
      </p:sp>
      <p:sp>
        <p:nvSpPr>
          <p:cNvPr id="459" name="Shape 459"/>
          <p:cNvSpPr txBox="1"/>
          <p:nvPr/>
        </p:nvSpPr>
        <p:spPr>
          <a:xfrm>
            <a:off x="927100" y="350361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60" name="Shape 460"/>
          <p:cNvSpPr txBox="1"/>
          <p:nvPr/>
        </p:nvSpPr>
        <p:spPr>
          <a:xfrm>
            <a:off x="1612900" y="3829050"/>
            <a:ext cx="4794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are put in a rectangular grid</a:t>
            </a:r>
          </a:p>
        </p:txBody>
      </p:sp>
      <p:sp>
        <p:nvSpPr>
          <p:cNvPr id="461" name="Shape 461"/>
          <p:cNvSpPr txBox="1"/>
          <p:nvPr/>
        </p:nvSpPr>
        <p:spPr>
          <a:xfrm>
            <a:off x="1384300" y="3857625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62" name="Shape 462"/>
          <p:cNvSpPr txBox="1"/>
          <p:nvPr/>
        </p:nvSpPr>
        <p:spPr>
          <a:xfrm>
            <a:off x="1612900" y="4135437"/>
            <a:ext cx="4341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areas are the same size and shape</a:t>
            </a:r>
          </a:p>
        </p:txBody>
      </p:sp>
      <p:sp>
        <p:nvSpPr>
          <p:cNvPr id="463" name="Shape 463"/>
          <p:cNvSpPr txBox="1"/>
          <p:nvPr/>
        </p:nvSpPr>
        <p:spPr>
          <a:xfrm>
            <a:off x="1384300" y="4165600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64" name="Shape 464"/>
          <p:cNvSpPr txBox="1"/>
          <p:nvPr/>
        </p:nvSpPr>
        <p:spPr>
          <a:xfrm>
            <a:off x="1212850" y="4451350"/>
            <a:ext cx="18621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BoxLayout</a:t>
            </a:r>
          </a:p>
        </p:txBody>
      </p:sp>
      <p:sp>
        <p:nvSpPr>
          <p:cNvPr id="465" name="Shape 465"/>
          <p:cNvSpPr txBox="1"/>
          <p:nvPr/>
        </p:nvSpPr>
        <p:spPr>
          <a:xfrm>
            <a:off x="927100" y="448627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612900" y="4811712"/>
            <a:ext cx="5011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horizontal row or a vertical stack</a:t>
            </a:r>
          </a:p>
        </p:txBody>
      </p:sp>
      <p:sp>
        <p:nvSpPr>
          <p:cNvPr id="467" name="Shape 467"/>
          <p:cNvSpPr txBox="1"/>
          <p:nvPr/>
        </p:nvSpPr>
        <p:spPr>
          <a:xfrm>
            <a:off x="1384300" y="484028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612900" y="5118100"/>
            <a:ext cx="3662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be a little weird to use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1384300" y="5146675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70" name="Shape 470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Shape 476"/>
          <p:cNvSpPr txBox="1"/>
          <p:nvPr/>
        </p:nvSpPr>
        <p:spPr>
          <a:xfrm>
            <a:off x="1309687" y="492125"/>
            <a:ext cx="36147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BorderLayout</a:t>
            </a:r>
          </a:p>
        </p:txBody>
      </p:sp>
      <p:sp>
        <p:nvSpPr>
          <p:cNvPr id="477" name="Shape 477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Shape 483"/>
          <p:cNvSpPr txBox="1"/>
          <p:nvPr/>
        </p:nvSpPr>
        <p:spPr>
          <a:xfrm>
            <a:off x="471486" y="476250"/>
            <a:ext cx="21114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mport java.awt.BorderLayout;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java.awt.FlowLayout;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javax.swing.JButton;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javax.swing.JFrame;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/**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509586" y="1576387"/>
            <a:ext cx="1344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@author Adil M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509587" y="1797050"/>
            <a:ext cx="347699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*/</a:t>
            </a:r>
          </a:p>
        </p:txBody>
      </p:sp>
      <p:sp>
        <p:nvSpPr>
          <p:cNvPr id="486" name="Shape 486"/>
          <p:cNvSpPr txBox="1"/>
          <p:nvPr/>
        </p:nvSpPr>
        <p:spPr>
          <a:xfrm>
            <a:off x="471486" y="2017712"/>
            <a:ext cx="2217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JavaApplication9 {</a:t>
            </a:r>
          </a:p>
        </p:txBody>
      </p:sp>
      <p:sp>
        <p:nvSpPr>
          <p:cNvPr id="487" name="Shape 487"/>
          <p:cNvSpPr txBox="1"/>
          <p:nvPr/>
        </p:nvSpPr>
        <p:spPr>
          <a:xfrm>
            <a:off x="471486" y="2259011"/>
            <a:ext cx="2906700" cy="3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imes New Roman"/>
              <a:buNone/>
            </a:pPr>
            <a:r>
              <a:rPr b="1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///code for border layout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main(String[] args) {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TODO code application logic here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a=new JFrame("my frame");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a.setLayout(new BorderLayout());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bt=new JButton("North");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a.add(bt,BorderLayout.NORTH);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bt1=new JButton("west");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a.add(bt1,BorderLayout.WEST);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bt2=new JButton("center");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a.add(bt2,BorderLayout.CENTER);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bt3=new JButton("East");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a.add(bt3,BorderLayout.EAST);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bt4=new JButton("south");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a.add(bt4,BorderLayout.SOUTH);</a:t>
            </a:r>
          </a:p>
          <a:p>
            <a:pPr indent="0" lvl="0" marL="152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a.setSize(500,500);</a:t>
            </a:r>
          </a:p>
        </p:txBody>
      </p:sp>
      <p:sp>
        <p:nvSpPr>
          <p:cNvPr id="488" name="Shape 488"/>
          <p:cNvSpPr txBox="1"/>
          <p:nvPr/>
        </p:nvSpPr>
        <p:spPr>
          <a:xfrm>
            <a:off x="776286" y="5837237"/>
            <a:ext cx="1323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a.setVisible(true);</a:t>
            </a:r>
          </a:p>
        </p:txBody>
      </p:sp>
      <p:sp>
        <p:nvSpPr>
          <p:cNvPr id="489" name="Shape 489"/>
          <p:cNvSpPr txBox="1"/>
          <p:nvPr/>
        </p:nvSpPr>
        <p:spPr>
          <a:xfrm>
            <a:off x="700086" y="6057900"/>
            <a:ext cx="4121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a.setDefaultCloseOperation(JFrame.EXIT_ON_CLOSE);</a:t>
            </a:r>
          </a:p>
          <a:p>
            <a:pPr indent="0" lvl="0" marL="7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  <p:sp>
        <p:nvSpPr>
          <p:cNvPr id="490" name="Shape 490"/>
          <p:cNvSpPr txBox="1"/>
          <p:nvPr/>
        </p:nvSpPr>
        <p:spPr>
          <a:xfrm>
            <a:off x="471487" y="6497636"/>
            <a:ext cx="301500" cy="38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Shape 496"/>
          <p:cNvSpPr txBox="1"/>
          <p:nvPr/>
        </p:nvSpPr>
        <p:spPr>
          <a:xfrm>
            <a:off x="1309687" y="492125"/>
            <a:ext cx="32481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FlowLayout</a:t>
            </a:r>
          </a:p>
        </p:txBody>
      </p:sp>
      <p:sp>
        <p:nvSpPr>
          <p:cNvPr id="497" name="Shape 497"/>
          <p:cNvSpPr txBox="1"/>
          <p:nvPr/>
        </p:nvSpPr>
        <p:spPr>
          <a:xfrm>
            <a:off x="812800" y="1433512"/>
            <a:ext cx="91407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212725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public class FlowLayoutExample extends JFrame {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public void init () {</a:t>
            </a:r>
          </a:p>
        </p:txBody>
      </p:sp>
      <p:sp>
        <p:nvSpPr>
          <p:cNvPr id="498" name="Shape 498"/>
          <p:cNvSpPr txBox="1"/>
          <p:nvPr/>
        </p:nvSpPr>
        <p:spPr>
          <a:xfrm>
            <a:off x="469900" y="1473200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499" name="Shape 499"/>
          <p:cNvSpPr txBox="1"/>
          <p:nvPr/>
        </p:nvSpPr>
        <p:spPr>
          <a:xfrm>
            <a:off x="1025525" y="2200275"/>
            <a:ext cx="58437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212725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setLayout(new FlowLayout ());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JButton("One"));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JButton("Two"));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JButton("Three"));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JButton("Four"));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JButton("Five"));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JButton("Six"));</a:t>
            </a:r>
          </a:p>
          <a:p>
            <a:pPr indent="-9525" lvl="0" marL="212725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500" name="Shape 500"/>
          <p:cNvSpPr txBox="1"/>
          <p:nvPr/>
        </p:nvSpPr>
        <p:spPr>
          <a:xfrm>
            <a:off x="812800" y="5270500"/>
            <a:ext cx="6636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501" name="Shape 501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Shape 507"/>
          <p:cNvSpPr txBox="1"/>
          <p:nvPr/>
        </p:nvSpPr>
        <p:spPr>
          <a:xfrm>
            <a:off x="1309687" y="492125"/>
            <a:ext cx="3135299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GridLayout</a:t>
            </a:r>
          </a:p>
        </p:txBody>
      </p:sp>
      <p:sp>
        <p:nvSpPr>
          <p:cNvPr id="508" name="Shape 508"/>
          <p:cNvSpPr txBox="1"/>
          <p:nvPr/>
        </p:nvSpPr>
        <p:spPr>
          <a:xfrm>
            <a:off x="812800" y="1468437"/>
            <a:ext cx="78153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365125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public class GridLayoutExample extends JApplet {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public void init() {</a:t>
            </a:r>
          </a:p>
        </p:txBody>
      </p:sp>
      <p:sp>
        <p:nvSpPr>
          <p:cNvPr id="509" name="Shape 509"/>
          <p:cNvSpPr txBox="1"/>
          <p:nvPr/>
        </p:nvSpPr>
        <p:spPr>
          <a:xfrm>
            <a:off x="469900" y="150177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510" name="Shape 510"/>
          <p:cNvSpPr txBox="1"/>
          <p:nvPr/>
        </p:nvSpPr>
        <p:spPr>
          <a:xfrm>
            <a:off x="1177925" y="2200275"/>
            <a:ext cx="56514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365125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setLayout(new GridLayout(2, 4));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JButton("One"));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JButton("Two"));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JButton("Three"));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JButton("Four"));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add(new JButton("Five"));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511" name="Shape 511"/>
          <p:cNvSpPr txBox="1"/>
          <p:nvPr/>
        </p:nvSpPr>
        <p:spPr>
          <a:xfrm>
            <a:off x="812800" y="4759325"/>
            <a:ext cx="568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512" name="Shape 512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Shape 518"/>
          <p:cNvSpPr txBox="1"/>
          <p:nvPr/>
        </p:nvSpPr>
        <p:spPr>
          <a:xfrm>
            <a:off x="1309687" y="492125"/>
            <a:ext cx="3051299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BoxLayout</a:t>
            </a:r>
          </a:p>
        </p:txBody>
      </p:sp>
      <p:sp>
        <p:nvSpPr>
          <p:cNvPr id="519" name="Shape 519"/>
          <p:cNvSpPr txBox="1"/>
          <p:nvPr/>
        </p:nvSpPr>
        <p:spPr>
          <a:xfrm>
            <a:off x="812800" y="1468437"/>
            <a:ext cx="77106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365125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public class BoxLayoutExample extends JApplet {</a:t>
            </a:r>
          </a:p>
          <a:p>
            <a:pPr indent="-9525" lvl="0" marL="3651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public void init () {</a:t>
            </a:r>
          </a:p>
        </p:txBody>
      </p:sp>
      <p:sp>
        <p:nvSpPr>
          <p:cNvPr id="520" name="Shape 520"/>
          <p:cNvSpPr txBox="1"/>
          <p:nvPr/>
        </p:nvSpPr>
        <p:spPr>
          <a:xfrm>
            <a:off x="469900" y="150177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521" name="Shape 521"/>
          <p:cNvSpPr txBox="1"/>
          <p:nvPr/>
        </p:nvSpPr>
        <p:spPr>
          <a:xfrm>
            <a:off x="1544637" y="2200275"/>
            <a:ext cx="60993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 box = new Box(BoxLayout.Y_AXIS);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add(box);</a:t>
            </a:r>
          </a:p>
        </p:txBody>
      </p:sp>
      <p:sp>
        <p:nvSpPr>
          <p:cNvPr id="522" name="Shape 522"/>
          <p:cNvSpPr txBox="1"/>
          <p:nvPr/>
        </p:nvSpPr>
        <p:spPr>
          <a:xfrm>
            <a:off x="1362075" y="2930525"/>
            <a:ext cx="52071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4762" lvl="0" marL="182562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box.add(new JButton("One"));</a:t>
            </a:r>
          </a:p>
          <a:p>
            <a:pPr indent="-4762" lvl="0" marL="182562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box.add(new JButton("Two"));</a:t>
            </a:r>
          </a:p>
          <a:p>
            <a:pPr indent="-4762" lvl="0" marL="182562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box.add(new JButton("Three"));</a:t>
            </a:r>
          </a:p>
          <a:p>
            <a:pPr indent="-4762" lvl="0" marL="182562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box.add(new JButton("Four"));</a:t>
            </a:r>
          </a:p>
          <a:p>
            <a:pPr indent="-4762" lvl="0" marL="182562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box.add(new JButton("Five"));</a:t>
            </a:r>
          </a:p>
          <a:p>
            <a:pPr indent="-4762" lvl="0" marL="182562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box.add(new JButton("Six"));</a:t>
            </a:r>
          </a:p>
          <a:p>
            <a:pPr indent="-4762" lvl="0" marL="182562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523" name="Shape 523"/>
          <p:cNvSpPr txBox="1"/>
          <p:nvPr/>
        </p:nvSpPr>
        <p:spPr>
          <a:xfrm>
            <a:off x="812800" y="5491162"/>
            <a:ext cx="568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524" name="Shape 524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52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Shape 530"/>
          <p:cNvSpPr txBox="1"/>
          <p:nvPr/>
        </p:nvSpPr>
        <p:spPr>
          <a:xfrm>
            <a:off x="1309687" y="492125"/>
            <a:ext cx="37704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layouts</a:t>
            </a:r>
          </a:p>
        </p:txBody>
      </p:sp>
      <p:sp>
        <p:nvSpPr>
          <p:cNvPr id="531" name="Shape 531"/>
          <p:cNvSpPr txBox="1"/>
          <p:nvPr/>
        </p:nvSpPr>
        <p:spPr>
          <a:xfrm>
            <a:off x="812800" y="1476375"/>
            <a:ext cx="8274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JPanel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both a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JContainer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</a:p>
        </p:txBody>
      </p:sp>
      <p:sp>
        <p:nvSpPr>
          <p:cNvPr id="532" name="Shape 532"/>
          <p:cNvSpPr txBox="1"/>
          <p:nvPr/>
        </p:nvSpPr>
        <p:spPr>
          <a:xfrm>
            <a:off x="469900" y="1516062"/>
            <a:ext cx="4875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9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1212850" y="1970087"/>
            <a:ext cx="86280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it’s a container, you can put other components into it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927100" y="200501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1212850" y="2411412"/>
            <a:ext cx="8642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it’s a component, you can put it into other containers</a:t>
            </a:r>
          </a:p>
        </p:txBody>
      </p:sp>
      <p:sp>
        <p:nvSpPr>
          <p:cNvPr id="536" name="Shape 536"/>
          <p:cNvSpPr txBox="1"/>
          <p:nvPr/>
        </p:nvSpPr>
        <p:spPr>
          <a:xfrm>
            <a:off x="927100" y="2446337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537" name="Shape 537"/>
          <p:cNvSpPr txBox="1"/>
          <p:nvPr/>
        </p:nvSpPr>
        <p:spPr>
          <a:xfrm>
            <a:off x="812800" y="2874961"/>
            <a:ext cx="8407500" cy="1757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but the very simplest GUIs are built by creating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JPanel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 arranging them, and putting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(possibly other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JPanel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s) into them</a:t>
            </a:r>
          </a:p>
        </p:txBody>
      </p:sp>
      <p:sp>
        <p:nvSpPr>
          <p:cNvPr id="538" name="Shape 538"/>
          <p:cNvSpPr txBox="1"/>
          <p:nvPr/>
        </p:nvSpPr>
        <p:spPr>
          <a:xfrm>
            <a:off x="812800" y="4241800"/>
            <a:ext cx="90375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good approach is to draw (on paper) the arrangement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want, then finding an arrangement of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JPanel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and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layout managers that accomplishes this</a:t>
            </a:r>
          </a:p>
        </p:txBody>
      </p:sp>
      <p:sp>
        <p:nvSpPr>
          <p:cNvPr id="539" name="Shape 539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Shape 545"/>
          <p:cNvSpPr txBox="1"/>
          <p:nvPr/>
        </p:nvSpPr>
        <p:spPr>
          <a:xfrm>
            <a:off x="1309687" y="492125"/>
            <a:ext cx="8496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Add commponents on frame</a:t>
            </a:r>
          </a:p>
        </p:txBody>
      </p:sp>
      <p:sp>
        <p:nvSpPr>
          <p:cNvPr id="546" name="Shape 546"/>
          <p:cNvSpPr txBox="1"/>
          <p:nvPr/>
        </p:nvSpPr>
        <p:spPr>
          <a:xfrm>
            <a:off x="471486" y="1447800"/>
            <a:ext cx="2397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java.awt.FlowLayout;</a:t>
            </a:r>
          </a:p>
        </p:txBody>
      </p:sp>
      <p:sp>
        <p:nvSpPr>
          <p:cNvPr id="547" name="Shape 547"/>
          <p:cNvSpPr txBox="1"/>
          <p:nvPr/>
        </p:nvSpPr>
        <p:spPr>
          <a:xfrm>
            <a:off x="471486" y="1703387"/>
            <a:ext cx="26115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javax.swing.JButton;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javax.swing.JFrame;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JavaApplication9 {</a:t>
            </a:r>
          </a:p>
        </p:txBody>
      </p:sp>
      <p:sp>
        <p:nvSpPr>
          <p:cNvPr id="548" name="Shape 548"/>
          <p:cNvSpPr txBox="1"/>
          <p:nvPr/>
        </p:nvSpPr>
        <p:spPr>
          <a:xfrm>
            <a:off x="471486" y="2770187"/>
            <a:ext cx="3400500" cy="966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1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main(String[] args) {</a:t>
            </a:r>
          </a:p>
          <a:p>
            <a:pPr indent="-11112" lvl="0" marL="17621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a=new JFrame("my frame");</a:t>
            </a:r>
          </a:p>
          <a:p>
            <a:pPr indent="-11112" lvl="0" marL="17621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//SET LAYOUT FOR FRAME </a:t>
            </a:r>
            <a:r>
              <a:rPr b="0" i="0" lang="en-US" sz="1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imp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814386" y="3595687"/>
            <a:ext cx="24954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9525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a.setLayout(new</a:t>
            </a:r>
          </a:p>
          <a:p>
            <a:pPr indent="-9525" lvl="0" marL="95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FlowLayout());</a:t>
            </a:r>
          </a:p>
        </p:txBody>
      </p:sp>
      <p:sp>
        <p:nvSpPr>
          <p:cNvPr id="550" name="Shape 550"/>
          <p:cNvSpPr txBox="1"/>
          <p:nvPr/>
        </p:nvSpPr>
        <p:spPr>
          <a:xfrm>
            <a:off x="823912" y="4351337"/>
            <a:ext cx="308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bt=new JButton("Button 1");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a.add(bt);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823912" y="4865687"/>
            <a:ext cx="3238499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bt1=new JButton("Button31");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a.add(bt1);</a:t>
            </a:r>
          </a:p>
        </p:txBody>
      </p:sp>
      <p:sp>
        <p:nvSpPr>
          <p:cNvPr id="552" name="Shape 552"/>
          <p:cNvSpPr txBox="1"/>
          <p:nvPr/>
        </p:nvSpPr>
        <p:spPr>
          <a:xfrm>
            <a:off x="823912" y="5380037"/>
            <a:ext cx="1647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a.setSize(500,500);</a:t>
            </a:r>
          </a:p>
        </p:txBody>
      </p:sp>
      <p:sp>
        <p:nvSpPr>
          <p:cNvPr id="553" name="Shape 553"/>
          <p:cNvSpPr txBox="1"/>
          <p:nvPr/>
        </p:nvSpPr>
        <p:spPr>
          <a:xfrm>
            <a:off x="823911" y="5637212"/>
            <a:ext cx="1544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a.setVisible(true);</a:t>
            </a:r>
          </a:p>
        </p:txBody>
      </p:sp>
      <p:sp>
        <p:nvSpPr>
          <p:cNvPr id="554" name="Shape 554"/>
          <p:cNvSpPr txBox="1"/>
          <p:nvPr/>
        </p:nvSpPr>
        <p:spPr>
          <a:xfrm>
            <a:off x="814386" y="6108700"/>
            <a:ext cx="41070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a.setDefaultCloseOperation(JFrame.EXIT_ON_C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LOSE);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Shape 560"/>
          <p:cNvSpPr txBox="1"/>
          <p:nvPr/>
        </p:nvSpPr>
        <p:spPr>
          <a:xfrm>
            <a:off x="1309687" y="492125"/>
            <a:ext cx="80121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build a GUI(Step by Step)</a:t>
            </a:r>
          </a:p>
        </p:txBody>
      </p:sp>
      <p:sp>
        <p:nvSpPr>
          <p:cNvPr id="561" name="Shape 561"/>
          <p:cNvSpPr txBox="1"/>
          <p:nvPr/>
        </p:nvSpPr>
        <p:spPr>
          <a:xfrm>
            <a:off x="469900" y="1393825"/>
            <a:ext cx="3835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for Simple GUI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File GUITest.java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//Step 1: import packages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java.awt .*;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javax.swing.*;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GUITest {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myFrame ;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JTextField tf;</a:t>
            </a:r>
          </a:p>
        </p:txBody>
      </p:sp>
      <p:sp>
        <p:nvSpPr>
          <p:cNvPr id="562" name="Shape 562"/>
          <p:cNvSpPr txBox="1"/>
          <p:nvPr/>
        </p:nvSpPr>
        <p:spPr>
          <a:xfrm>
            <a:off x="469900" y="4340225"/>
            <a:ext cx="1871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 n b;</a:t>
            </a:r>
          </a:p>
        </p:txBody>
      </p:sp>
      <p:sp>
        <p:nvSpPr>
          <p:cNvPr id="563" name="Shape 563"/>
          <p:cNvSpPr txBox="1"/>
          <p:nvPr/>
        </p:nvSpPr>
        <p:spPr>
          <a:xfrm>
            <a:off x="469900" y="4708525"/>
            <a:ext cx="61626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//method used for set ting layout of GUI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void initGUI ( ) {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 ep 2: setup the top level cont ainer</a:t>
            </a:r>
          </a:p>
          <a:p>
            <a:pPr indent="0" lvl="0" marL="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 = new JFrame();</a:t>
            </a:r>
          </a:p>
        </p:txBody>
      </p:sp>
      <p:sp>
        <p:nvSpPr>
          <p:cNvPr id="564" name="Shape 564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Shape 570"/>
          <p:cNvSpPr txBox="1"/>
          <p:nvPr/>
        </p:nvSpPr>
        <p:spPr>
          <a:xfrm>
            <a:off x="1309687" y="492125"/>
            <a:ext cx="3273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continue......</a:t>
            </a:r>
          </a:p>
        </p:txBody>
      </p:sp>
      <p:sp>
        <p:nvSpPr>
          <p:cNvPr id="571" name="Shape 571"/>
          <p:cNvSpPr txBox="1"/>
          <p:nvPr/>
        </p:nvSpPr>
        <p:spPr>
          <a:xfrm>
            <a:off x="469900" y="1455737"/>
            <a:ext cx="63930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 ep 3: Get the component area of top-level container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c = myFrame.getContent Pane();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//Step 4: Apply layo ut s</a:t>
            </a:r>
          </a:p>
        </p:txBody>
      </p:sp>
      <p:sp>
        <p:nvSpPr>
          <p:cNvPr id="572" name="Shape 572"/>
          <p:cNvSpPr txBox="1"/>
          <p:nvPr/>
        </p:nvSpPr>
        <p:spPr>
          <a:xfrm>
            <a:off x="469900" y="2449511"/>
            <a:ext cx="4762500" cy="1904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c.setLayout( new FlowLayout( ) 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//Step 5: create &amp; add components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JTextField t f = new JTextField(10) 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b1 = new JButton( "My Button");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c.add(tf);</a:t>
            </a:r>
          </a:p>
        </p:txBody>
      </p:sp>
      <p:sp>
        <p:nvSpPr>
          <p:cNvPr id="573" name="Shape 573"/>
          <p:cNvSpPr txBox="1"/>
          <p:nvPr/>
        </p:nvSpPr>
        <p:spPr>
          <a:xfrm>
            <a:off x="469900" y="4105275"/>
            <a:ext cx="1278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c.add(b1);</a:t>
            </a:r>
          </a:p>
        </p:txBody>
      </p:sp>
      <p:sp>
        <p:nvSpPr>
          <p:cNvPr id="574" name="Shape 574"/>
          <p:cNvSpPr txBox="1"/>
          <p:nvPr/>
        </p:nvSpPr>
        <p:spPr>
          <a:xfrm>
            <a:off x="469900" y="4437062"/>
            <a:ext cx="69675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//Step 6: set size of frame and make it visible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myFrame.setDefaultCloseOperation(JFrame.EXIT_ON_CLOSE);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myFrame.setSize(200,150);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469900" y="5429250"/>
            <a:ext cx="27813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myFrame.setVisible(true);</a:t>
            </a:r>
          </a:p>
        </p:txBody>
      </p:sp>
      <p:sp>
        <p:nvSpPr>
          <p:cNvPr id="576" name="Shape 576"/>
          <p:cNvSpPr txBox="1"/>
          <p:nvPr/>
        </p:nvSpPr>
        <p:spPr>
          <a:xfrm>
            <a:off x="469900" y="5761037"/>
            <a:ext cx="265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//end initGUI method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Shape 582"/>
          <p:cNvSpPr txBox="1"/>
          <p:nvPr/>
        </p:nvSpPr>
        <p:spPr>
          <a:xfrm>
            <a:off x="1309687" y="492125"/>
            <a:ext cx="3273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continue......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469900" y="1476375"/>
            <a:ext cx="74151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GUITest ( ) { // default constructor</a:t>
            </a:r>
          </a:p>
        </p:txBody>
      </p:sp>
      <p:sp>
        <p:nvSpPr>
          <p:cNvPr id="584" name="Shape 584"/>
          <p:cNvSpPr txBox="1"/>
          <p:nvPr/>
        </p:nvSpPr>
        <p:spPr>
          <a:xfrm>
            <a:off x="469900" y="1990725"/>
            <a:ext cx="21528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initGUI ();</a:t>
            </a:r>
          </a:p>
        </p:txBody>
      </p:sp>
      <p:sp>
        <p:nvSpPr>
          <p:cNvPr id="585" name="Shape 585"/>
          <p:cNvSpPr txBox="1"/>
          <p:nvPr/>
        </p:nvSpPr>
        <p:spPr>
          <a:xfrm>
            <a:off x="469900" y="2506662"/>
            <a:ext cx="704700" cy="903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  <p:sp>
        <p:nvSpPr>
          <p:cNvPr id="586" name="Shape 586"/>
          <p:cNvSpPr txBox="1"/>
          <p:nvPr/>
        </p:nvSpPr>
        <p:spPr>
          <a:xfrm>
            <a:off x="469900" y="3022600"/>
            <a:ext cx="72627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 (Strin g args[ ]) {</a:t>
            </a:r>
          </a:p>
        </p:txBody>
      </p:sp>
      <p:sp>
        <p:nvSpPr>
          <p:cNvPr id="587" name="Shape 587"/>
          <p:cNvSpPr txBox="1"/>
          <p:nvPr/>
        </p:nvSpPr>
        <p:spPr>
          <a:xfrm>
            <a:off x="469900" y="3536950"/>
            <a:ext cx="54324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GUITest gui = new GUITest();</a:t>
            </a:r>
          </a:p>
        </p:txBody>
      </p:sp>
      <p:sp>
        <p:nvSpPr>
          <p:cNvPr id="588" name="Shape 588"/>
          <p:cNvSpPr txBox="1"/>
          <p:nvPr/>
        </p:nvSpPr>
        <p:spPr>
          <a:xfrm>
            <a:off x="469900" y="4051300"/>
            <a:ext cx="704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59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Shape 594"/>
          <p:cNvSpPr txBox="1"/>
          <p:nvPr/>
        </p:nvSpPr>
        <p:spPr>
          <a:xfrm>
            <a:off x="1309687" y="492125"/>
            <a:ext cx="84534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for simple layout of calculator</a:t>
            </a:r>
          </a:p>
        </p:txBody>
      </p:sp>
      <p:sp>
        <p:nvSpPr>
          <p:cNvPr id="595" name="Shape 595"/>
          <p:cNvSpPr txBox="1"/>
          <p:nvPr/>
        </p:nvSpPr>
        <p:spPr>
          <a:xfrm>
            <a:off x="471487" y="1476375"/>
            <a:ext cx="6224699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4290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make the calculator GUI shown</a:t>
            </a:r>
          </a:p>
          <a:p>
            <a:pPr indent="0" lvl="0" marL="34290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above, take JFrame (top level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14387" y="2328861"/>
            <a:ext cx="6422999" cy="2184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112" lvl="0" marL="176212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container) and set it s layout to</a:t>
            </a:r>
          </a:p>
          <a:p>
            <a:pPr indent="-11112" lvl="0" marL="176212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border. Than take JPanel (general</a:t>
            </a:r>
          </a:p>
          <a:p>
            <a:pPr indent="-11112" lvl="0" marL="176212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container) and set its layout</a:t>
            </a:r>
          </a:p>
          <a:p>
            <a:pPr indent="-11112" lvl="0" marL="176212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73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Grid with 4 rows and 4 columns.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60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Shape 602"/>
          <p:cNvSpPr txBox="1"/>
          <p:nvPr/>
        </p:nvSpPr>
        <p:spPr>
          <a:xfrm>
            <a:off x="1309687" y="492125"/>
            <a:ext cx="4522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calculator cont......</a:t>
            </a:r>
          </a:p>
        </p:txBody>
      </p:sp>
      <p:sp>
        <p:nvSpPr>
          <p:cNvPr id="603" name="Shape 603"/>
          <p:cNvSpPr txBox="1"/>
          <p:nvPr/>
        </p:nvSpPr>
        <p:spPr>
          <a:xfrm>
            <a:off x="469900" y="1601787"/>
            <a:ext cx="1281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NewClass {</a:t>
            </a:r>
          </a:p>
        </p:txBody>
      </p:sp>
      <p:sp>
        <p:nvSpPr>
          <p:cNvPr id="604" name="Shape 604"/>
          <p:cNvSpPr txBox="1"/>
          <p:nvPr/>
        </p:nvSpPr>
        <p:spPr>
          <a:xfrm>
            <a:off x="469900" y="1766887"/>
            <a:ext cx="3244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587" lvl="0" marL="1158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fCalc=new JFrame("Swing Presentation by Adil");</a:t>
            </a:r>
          </a:p>
          <a:p>
            <a:pPr indent="-1587" lvl="0" marL="1158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b1, b2, b3, b4, b5, b6, b7, b8, b9, b0;</a:t>
            </a:r>
          </a:p>
          <a:p>
            <a:pPr indent="-1587" lvl="0" marL="1158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bPlus,bMinus,bMul,bPoint,bEqual,bCl ,ear;</a:t>
            </a:r>
          </a:p>
          <a:p>
            <a:pPr indent="-1587" lvl="0" marL="11588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JPanel pButtons;</a:t>
            </a:r>
          </a:p>
        </p:txBody>
      </p:sp>
      <p:sp>
        <p:nvSpPr>
          <p:cNvPr id="605" name="Shape 605"/>
          <p:cNvSpPr txBox="1"/>
          <p:nvPr/>
        </p:nvSpPr>
        <p:spPr>
          <a:xfrm>
            <a:off x="469900" y="2430462"/>
            <a:ext cx="1219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JTextField tfAn, swer;</a:t>
            </a:r>
          </a:p>
        </p:txBody>
      </p:sp>
      <p:sp>
        <p:nvSpPr>
          <p:cNvPr id="606" name="Shape 606"/>
          <p:cNvSpPr txBox="1"/>
          <p:nvPr/>
        </p:nvSpPr>
        <p:spPr>
          <a:xfrm>
            <a:off x="469900" y="2595562"/>
            <a:ext cx="962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JLabel lMyCalc;</a:t>
            </a:r>
          </a:p>
        </p:txBody>
      </p:sp>
      <p:sp>
        <p:nvSpPr>
          <p:cNvPr id="607" name="Shape 607"/>
          <p:cNvSpPr txBox="1"/>
          <p:nvPr/>
        </p:nvSpPr>
        <p:spPr>
          <a:xfrm>
            <a:off x="587375" y="2762250"/>
            <a:ext cx="19509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main(String[] args)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</p:txBody>
      </p:sp>
      <p:sp>
        <p:nvSpPr>
          <p:cNvPr id="608" name="Shape 608"/>
          <p:cNvSpPr txBox="1"/>
          <p:nvPr/>
        </p:nvSpPr>
        <p:spPr>
          <a:xfrm>
            <a:off x="701675" y="3257550"/>
            <a:ext cx="1635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NewClass v= new NewClass();</a:t>
            </a:r>
          </a:p>
        </p:txBody>
      </p:sp>
      <p:sp>
        <p:nvSpPr>
          <p:cNvPr id="609" name="Shape 609"/>
          <p:cNvSpPr txBox="1"/>
          <p:nvPr/>
        </p:nvSpPr>
        <p:spPr>
          <a:xfrm>
            <a:off x="587375" y="3754437"/>
            <a:ext cx="227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  <p:sp>
        <p:nvSpPr>
          <p:cNvPr id="610" name="Shape 610"/>
          <p:cNvSpPr txBox="1"/>
          <p:nvPr/>
        </p:nvSpPr>
        <p:spPr>
          <a:xfrm>
            <a:off x="469900" y="3921125"/>
            <a:ext cx="11955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587" lvl="0" marL="1158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void method(){</a:t>
            </a:r>
          </a:p>
          <a:p>
            <a:pPr indent="-1587" lvl="0" marL="1158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</a:p>
        </p:txBody>
      </p:sp>
      <p:sp>
        <p:nvSpPr>
          <p:cNvPr id="611" name="Shape 611"/>
          <p:cNvSpPr txBox="1"/>
          <p:nvPr/>
        </p:nvSpPr>
        <p:spPr>
          <a:xfrm>
            <a:off x="587375" y="4251325"/>
            <a:ext cx="227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</p:txBody>
      </p:sp>
      <p:sp>
        <p:nvSpPr>
          <p:cNvPr id="612" name="Shape 612"/>
          <p:cNvSpPr txBox="1"/>
          <p:nvPr/>
        </p:nvSpPr>
        <p:spPr>
          <a:xfrm>
            <a:off x="469900" y="4418012"/>
            <a:ext cx="12669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bPlus=new JButton("");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b1=new JButton("1");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b2=new JButton("2");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b3=new JButton("3");</a:t>
            </a:r>
          </a:p>
        </p:txBody>
      </p:sp>
      <p:sp>
        <p:nvSpPr>
          <p:cNvPr id="613" name="Shape 613"/>
          <p:cNvSpPr txBox="1"/>
          <p:nvPr/>
        </p:nvSpPr>
        <p:spPr>
          <a:xfrm>
            <a:off x="469900" y="5264150"/>
            <a:ext cx="11844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b4=new JButton("4");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b5=new JButton("5");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b6=new JButton("6");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b7=new JButton("7");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b8=new JButton("8");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b9=new JButton("9");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b0=new JButton("0");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Shape 619"/>
          <p:cNvSpPr txBox="1"/>
          <p:nvPr/>
        </p:nvSpPr>
        <p:spPr>
          <a:xfrm>
            <a:off x="1309687" y="492125"/>
            <a:ext cx="4522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calculator cont......</a:t>
            </a:r>
          </a:p>
        </p:txBody>
      </p:sp>
      <p:sp>
        <p:nvSpPr>
          <p:cNvPr id="620" name="Shape 620"/>
          <p:cNvSpPr txBox="1"/>
          <p:nvPr/>
        </p:nvSpPr>
        <p:spPr>
          <a:xfrm>
            <a:off x="469900" y="1744662"/>
            <a:ext cx="2795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bMinus = new JButton("-");</a:t>
            </a:r>
          </a:p>
        </p:txBody>
      </p:sp>
      <p:sp>
        <p:nvSpPr>
          <p:cNvPr id="621" name="Shape 621"/>
          <p:cNvSpPr txBox="1"/>
          <p:nvPr/>
        </p:nvSpPr>
        <p:spPr>
          <a:xfrm>
            <a:off x="469900" y="2039937"/>
            <a:ext cx="2739900" cy="1398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bMul = new JButton("*");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bPoint = new JButton(".");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bEqual = new JButton("=");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bCl = new JButton("C");</a:t>
            </a:r>
          </a:p>
        </p:txBody>
      </p:sp>
      <p:sp>
        <p:nvSpPr>
          <p:cNvPr id="622" name="Shape 622"/>
          <p:cNvSpPr txBox="1"/>
          <p:nvPr/>
        </p:nvSpPr>
        <p:spPr>
          <a:xfrm>
            <a:off x="469900" y="3216275"/>
            <a:ext cx="27321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tfAn = new JTextField(10);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tfAn.setSize(20, 20);</a:t>
            </a:r>
          </a:p>
        </p:txBody>
      </p:sp>
      <p:sp>
        <p:nvSpPr>
          <p:cNvPr id="623" name="Shape 623"/>
          <p:cNvSpPr txBox="1"/>
          <p:nvPr/>
        </p:nvSpPr>
        <p:spPr>
          <a:xfrm>
            <a:off x="469900" y="3803650"/>
            <a:ext cx="440520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lMyCalc = new JLabel("My Clacualator");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//creating panel object and setting its layout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 = new JPanel (new GridLayout(4,4));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//adding components (buttons) to panel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pButtons.add(b1);</a:t>
            </a:r>
          </a:p>
        </p:txBody>
      </p:sp>
      <p:sp>
        <p:nvSpPr>
          <p:cNvPr id="624" name="Shape 624"/>
          <p:cNvSpPr txBox="1"/>
          <p:nvPr/>
        </p:nvSpPr>
        <p:spPr>
          <a:xfrm>
            <a:off x="469900" y="5273675"/>
            <a:ext cx="1779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pButtons.add(b2);</a:t>
            </a:r>
          </a:p>
        </p:txBody>
      </p:sp>
      <p:sp>
        <p:nvSpPr>
          <p:cNvPr id="625" name="Shape 625"/>
          <p:cNvSpPr txBox="1"/>
          <p:nvPr/>
        </p:nvSpPr>
        <p:spPr>
          <a:xfrm>
            <a:off x="469900" y="5568950"/>
            <a:ext cx="1779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pButtons.add(b3);</a:t>
            </a:r>
          </a:p>
        </p:txBody>
      </p:sp>
      <p:sp>
        <p:nvSpPr>
          <p:cNvPr id="626" name="Shape 626"/>
          <p:cNvSpPr txBox="1"/>
          <p:nvPr/>
        </p:nvSpPr>
        <p:spPr>
          <a:xfrm>
            <a:off x="469900" y="5862637"/>
            <a:ext cx="1868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pButtons.add(bCl);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hape 63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Shape 632"/>
          <p:cNvSpPr txBox="1"/>
          <p:nvPr/>
        </p:nvSpPr>
        <p:spPr>
          <a:xfrm>
            <a:off x="1309687" y="492125"/>
            <a:ext cx="4522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calculator cont......</a:t>
            </a:r>
          </a:p>
        </p:txBody>
      </p:sp>
      <p:sp>
        <p:nvSpPr>
          <p:cNvPr id="633" name="Shape 633"/>
          <p:cNvSpPr txBox="1"/>
          <p:nvPr/>
        </p:nvSpPr>
        <p:spPr>
          <a:xfrm>
            <a:off x="471486" y="1589087"/>
            <a:ext cx="4378200" cy="4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pButtons.add(b4);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pButtons.add(b5);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pButtons.add(b6);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pButtons.add(bMul);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pButtons.add(b7);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pButtons.add(b8);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pButtons.add(b9);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pButtons.add(bMinus);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pButtons.add(b0);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pButtons.add(bPoint);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pButtons.add(bPlus);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pButtons.add(bEqual);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getting componenet area of JFrame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con=new Container();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con=fCalc.getContentPane();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con.setLayout(new BorderLayout()) 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//adding components to container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con.add(tfAn, BorderLayout.NORTH);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con.add(lMyCalc, BorderLayout.SOUTH);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con.add(pButtons, BorderLayout.CENTER);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fCalc.setDefaultCloseOperation( JFrame.EXIT_ON_CLOSE);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fCalc.setSize(300, 300);</a:t>
            </a:r>
          </a:p>
        </p:txBody>
      </p:sp>
      <p:sp>
        <p:nvSpPr>
          <p:cNvPr id="634" name="Shape 634"/>
          <p:cNvSpPr txBox="1"/>
          <p:nvPr/>
        </p:nvSpPr>
        <p:spPr>
          <a:xfrm>
            <a:off x="471486" y="5629275"/>
            <a:ext cx="1587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fCalc.setVisible(true);</a:t>
            </a:r>
          </a:p>
        </p:txBody>
      </p:sp>
      <p:sp>
        <p:nvSpPr>
          <p:cNvPr id="635" name="Shape 635"/>
          <p:cNvSpPr txBox="1"/>
          <p:nvPr/>
        </p:nvSpPr>
        <p:spPr>
          <a:xfrm>
            <a:off x="623887" y="5811837"/>
            <a:ext cx="301499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Shape 641"/>
          <p:cNvSpPr txBox="1"/>
          <p:nvPr/>
        </p:nvSpPr>
        <p:spPr>
          <a:xfrm>
            <a:off x="3911600" y="1401762"/>
            <a:ext cx="57087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112" lvl="0" marL="201612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catch(Exception ex)</a:t>
            </a:r>
          </a:p>
          <a:p>
            <a:pPr indent="-11112" lvl="0" marL="201612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  <a:p>
            <a:pPr indent="-11112" lvl="0" marL="201612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JOptionPane.showMessageDialog(null,ex.getStackTrace());</a:t>
            </a:r>
          </a:p>
          <a:p>
            <a:pPr indent="-11112" lvl="0" marL="201612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  <p:sp>
        <p:nvSpPr>
          <p:cNvPr id="642" name="Shape 642"/>
          <p:cNvSpPr txBox="1"/>
          <p:nvPr/>
        </p:nvSpPr>
        <p:spPr>
          <a:xfrm>
            <a:off x="3711575" y="2933700"/>
            <a:ext cx="3906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  <p:sp>
        <p:nvSpPr>
          <p:cNvPr id="643" name="Shape 643"/>
          <p:cNvSpPr txBox="1"/>
          <p:nvPr/>
        </p:nvSpPr>
        <p:spPr>
          <a:xfrm>
            <a:off x="3711575" y="3744912"/>
            <a:ext cx="22956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NewClass ()</a:t>
            </a:r>
          </a:p>
          <a:p>
            <a:pPr indent="0" lvl="0" marL="0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// default const ructor</a:t>
            </a:r>
          </a:p>
        </p:txBody>
      </p:sp>
      <p:sp>
        <p:nvSpPr>
          <p:cNvPr id="644" name="Shape 644"/>
          <p:cNvSpPr txBox="1"/>
          <p:nvPr/>
        </p:nvSpPr>
        <p:spPr>
          <a:xfrm>
            <a:off x="4011612" y="4735512"/>
            <a:ext cx="10764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method();</a:t>
            </a:r>
          </a:p>
        </p:txBody>
      </p:sp>
      <p:sp>
        <p:nvSpPr>
          <p:cNvPr id="645" name="Shape 645"/>
          <p:cNvSpPr txBox="1"/>
          <p:nvPr/>
        </p:nvSpPr>
        <p:spPr>
          <a:xfrm>
            <a:off x="3711575" y="5214937"/>
            <a:ext cx="3906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indent="0" lvl="0" marL="0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Shape 651"/>
          <p:cNvSpPr txBox="1"/>
          <p:nvPr/>
        </p:nvSpPr>
        <p:spPr>
          <a:xfrm>
            <a:off x="1309687" y="492125"/>
            <a:ext cx="21876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put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65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Shape 657"/>
          <p:cNvSpPr txBox="1"/>
          <p:nvPr/>
        </p:nvSpPr>
        <p:spPr>
          <a:xfrm>
            <a:off x="1309687" y="492125"/>
            <a:ext cx="37101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Getting values</a:t>
            </a:r>
          </a:p>
        </p:txBody>
      </p:sp>
      <p:sp>
        <p:nvSpPr>
          <p:cNvPr id="658" name="Shape 658"/>
          <p:cNvSpPr txBox="1"/>
          <p:nvPr/>
        </p:nvSpPr>
        <p:spPr>
          <a:xfrm>
            <a:off x="812800" y="1476375"/>
            <a:ext cx="89472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user actions normally cause the program to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something: clicking a button, or selecting from a menu</a:t>
            </a:r>
          </a:p>
        </p:txBody>
      </p:sp>
      <p:sp>
        <p:nvSpPr>
          <p:cNvPr id="659" name="Shape 659"/>
          <p:cNvSpPr txBox="1"/>
          <p:nvPr/>
        </p:nvSpPr>
        <p:spPr>
          <a:xfrm>
            <a:off x="469900" y="1516062"/>
            <a:ext cx="4875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60" name="Shape 660"/>
          <p:cNvSpPr txBox="1"/>
          <p:nvPr/>
        </p:nvSpPr>
        <p:spPr>
          <a:xfrm>
            <a:off x="812800" y="2417762"/>
            <a:ext cx="8885100" cy="903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user actions set values to be used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later: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entering</a:t>
            </a:r>
          </a:p>
        </p:txBody>
      </p:sp>
      <p:sp>
        <p:nvSpPr>
          <p:cNvPr id="661" name="Shape 661"/>
          <p:cNvSpPr txBox="1"/>
          <p:nvPr/>
        </p:nvSpPr>
        <p:spPr>
          <a:xfrm>
            <a:off x="812800" y="2844800"/>
            <a:ext cx="66723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text, setting a checkbox or a radio button</a:t>
            </a:r>
          </a:p>
        </p:txBody>
      </p:sp>
      <p:sp>
        <p:nvSpPr>
          <p:cNvPr id="662" name="Shape 662"/>
          <p:cNvSpPr txBox="1"/>
          <p:nvPr/>
        </p:nvSpPr>
        <p:spPr>
          <a:xfrm>
            <a:off x="1212850" y="3338512"/>
            <a:ext cx="80883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listen for events from these, but it’s not usually a</a:t>
            </a:r>
          </a:p>
        </p:txBody>
      </p:sp>
      <p:sp>
        <p:nvSpPr>
          <p:cNvPr id="663" name="Shape 663"/>
          <p:cNvSpPr txBox="1"/>
          <p:nvPr/>
        </p:nvSpPr>
        <p:spPr>
          <a:xfrm>
            <a:off x="927100" y="3373437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64" name="Shape 664"/>
          <p:cNvSpPr txBox="1"/>
          <p:nvPr/>
        </p:nvSpPr>
        <p:spPr>
          <a:xfrm>
            <a:off x="1212850" y="3705225"/>
            <a:ext cx="1650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idea</a:t>
            </a:r>
          </a:p>
        </p:txBody>
      </p:sp>
      <p:sp>
        <p:nvSpPr>
          <p:cNvPr id="665" name="Shape 665"/>
          <p:cNvSpPr txBox="1"/>
          <p:nvPr/>
        </p:nvSpPr>
        <p:spPr>
          <a:xfrm>
            <a:off x="1212850" y="4146550"/>
            <a:ext cx="65358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Instead,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values when you need them</a:t>
            </a:r>
          </a:p>
        </p:txBody>
      </p:sp>
      <p:sp>
        <p:nvSpPr>
          <p:cNvPr id="666" name="Shape 666"/>
          <p:cNvSpPr txBox="1"/>
          <p:nvPr/>
        </p:nvSpPr>
        <p:spPr>
          <a:xfrm>
            <a:off x="927100" y="4179887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67" name="Shape 667"/>
          <p:cNvSpPr txBox="1"/>
          <p:nvPr/>
        </p:nvSpPr>
        <p:spPr>
          <a:xfrm>
            <a:off x="1612900" y="4567237"/>
            <a:ext cx="5253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String myText = myJTextField.getText();</a:t>
            </a:r>
          </a:p>
        </p:txBody>
      </p:sp>
      <p:sp>
        <p:nvSpPr>
          <p:cNvPr id="668" name="Shape 668"/>
          <p:cNvSpPr txBox="1"/>
          <p:nvPr/>
        </p:nvSpPr>
        <p:spPr>
          <a:xfrm>
            <a:off x="1384300" y="4595812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69" name="Shape 669"/>
          <p:cNvSpPr txBox="1"/>
          <p:nvPr/>
        </p:nvSpPr>
        <p:spPr>
          <a:xfrm>
            <a:off x="1612900" y="4935537"/>
            <a:ext cx="5207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String myText = myJTextArea.getText();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1384300" y="4964112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71" name="Shape 671"/>
          <p:cNvSpPr txBox="1"/>
          <p:nvPr/>
        </p:nvSpPr>
        <p:spPr>
          <a:xfrm>
            <a:off x="1612900" y="5303837"/>
            <a:ext cx="6073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boolean checked = myJCheckBox.isSelected();</a:t>
            </a:r>
          </a:p>
        </p:txBody>
      </p:sp>
      <p:sp>
        <p:nvSpPr>
          <p:cNvPr id="672" name="Shape 672"/>
          <p:cNvSpPr txBox="1"/>
          <p:nvPr/>
        </p:nvSpPr>
        <p:spPr>
          <a:xfrm>
            <a:off x="1384300" y="5332412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73" name="Shape 673"/>
          <p:cNvSpPr txBox="1"/>
          <p:nvPr/>
        </p:nvSpPr>
        <p:spPr>
          <a:xfrm>
            <a:off x="1612900" y="5672137"/>
            <a:ext cx="6754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boolean selected1 = myJRadioButton1.isSelected();</a:t>
            </a:r>
          </a:p>
        </p:txBody>
      </p:sp>
      <p:sp>
        <p:nvSpPr>
          <p:cNvPr id="674" name="Shape 674"/>
          <p:cNvSpPr txBox="1"/>
          <p:nvPr/>
        </p:nvSpPr>
        <p:spPr>
          <a:xfrm>
            <a:off x="1384300" y="5700712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75" name="Shape 675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Shape 681"/>
          <p:cNvSpPr txBox="1"/>
          <p:nvPr/>
        </p:nvSpPr>
        <p:spPr>
          <a:xfrm>
            <a:off x="1309687" y="492125"/>
            <a:ext cx="8358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Enabling and disabling components</a:t>
            </a:r>
          </a:p>
        </p:txBody>
      </p:sp>
      <p:sp>
        <p:nvSpPr>
          <p:cNvPr id="682" name="Shape 682"/>
          <p:cNvSpPr txBox="1"/>
          <p:nvPr/>
        </p:nvSpPr>
        <p:spPr>
          <a:xfrm>
            <a:off x="812800" y="1476375"/>
            <a:ext cx="87471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poor style to remove components you don’t want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to be able to use</a:t>
            </a:r>
          </a:p>
        </p:txBody>
      </p:sp>
      <p:sp>
        <p:nvSpPr>
          <p:cNvPr id="683" name="Shape 683"/>
          <p:cNvSpPr txBox="1"/>
          <p:nvPr/>
        </p:nvSpPr>
        <p:spPr>
          <a:xfrm>
            <a:off x="469900" y="1516062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84" name="Shape 684"/>
          <p:cNvSpPr txBox="1"/>
          <p:nvPr/>
        </p:nvSpPr>
        <p:spPr>
          <a:xfrm>
            <a:off x="1212850" y="2397125"/>
            <a:ext cx="6303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“Where did it go? It was here a minute ago!”</a:t>
            </a:r>
          </a:p>
        </p:txBody>
      </p:sp>
      <p:sp>
        <p:nvSpPr>
          <p:cNvPr id="685" name="Shape 685"/>
          <p:cNvSpPr txBox="1"/>
          <p:nvPr/>
        </p:nvSpPr>
        <p:spPr>
          <a:xfrm>
            <a:off x="927100" y="243046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86" name="Shape 686"/>
          <p:cNvSpPr txBox="1"/>
          <p:nvPr/>
        </p:nvSpPr>
        <p:spPr>
          <a:xfrm>
            <a:off x="812800" y="2859086"/>
            <a:ext cx="6567600" cy="903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better to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disable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</a:t>
            </a:r>
          </a:p>
        </p:txBody>
      </p:sp>
      <p:sp>
        <p:nvSpPr>
          <p:cNvPr id="687" name="Shape 687"/>
          <p:cNvSpPr txBox="1"/>
          <p:nvPr/>
        </p:nvSpPr>
        <p:spPr>
          <a:xfrm>
            <a:off x="469900" y="2900362"/>
            <a:ext cx="487500" cy="545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88" name="Shape 688"/>
          <p:cNvSpPr txBox="1"/>
          <p:nvPr/>
        </p:nvSpPr>
        <p:spPr>
          <a:xfrm>
            <a:off x="1212850" y="3354387"/>
            <a:ext cx="5386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Disabled controls appear “grayed out”</a:t>
            </a:r>
          </a:p>
        </p:txBody>
      </p:sp>
      <p:sp>
        <p:nvSpPr>
          <p:cNvPr id="689" name="Shape 689"/>
          <p:cNvSpPr txBox="1"/>
          <p:nvPr/>
        </p:nvSpPr>
        <p:spPr>
          <a:xfrm>
            <a:off x="927100" y="338772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90" name="Shape 690"/>
          <p:cNvSpPr txBox="1"/>
          <p:nvPr/>
        </p:nvSpPr>
        <p:spPr>
          <a:xfrm>
            <a:off x="1212850" y="3795712"/>
            <a:ext cx="7718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may wonder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it’s still less confusing</a:t>
            </a:r>
          </a:p>
        </p:txBody>
      </p:sp>
      <p:sp>
        <p:nvSpPr>
          <p:cNvPr id="691" name="Shape 691"/>
          <p:cNvSpPr txBox="1"/>
          <p:nvPr/>
        </p:nvSpPr>
        <p:spPr>
          <a:xfrm>
            <a:off x="927100" y="3829050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92" name="Shape 692"/>
          <p:cNvSpPr txBox="1"/>
          <p:nvPr/>
        </p:nvSpPr>
        <p:spPr>
          <a:xfrm>
            <a:off x="904875" y="4237037"/>
            <a:ext cx="5565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1" i="1" lang="en-US" sz="24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anyComponent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.setEnabled(</a:t>
            </a:r>
            <a:r>
              <a:rPr b="1" i="1" lang="en-US" sz="24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</a:t>
            </a: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</a:p>
        </p:txBody>
      </p:sp>
      <p:sp>
        <p:nvSpPr>
          <p:cNvPr id="693" name="Shape 693"/>
          <p:cNvSpPr txBox="1"/>
          <p:nvPr/>
        </p:nvSpPr>
        <p:spPr>
          <a:xfrm>
            <a:off x="469900" y="427196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94" name="Shape 694"/>
          <p:cNvSpPr txBox="1"/>
          <p:nvPr/>
        </p:nvSpPr>
        <p:spPr>
          <a:xfrm>
            <a:off x="1212850" y="4678362"/>
            <a:ext cx="71103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should be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true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enable,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disable</a:t>
            </a:r>
          </a:p>
        </p:txBody>
      </p:sp>
      <p:sp>
        <p:nvSpPr>
          <p:cNvPr id="695" name="Shape 695"/>
          <p:cNvSpPr txBox="1"/>
          <p:nvPr/>
        </p:nvSpPr>
        <p:spPr>
          <a:xfrm>
            <a:off x="927100" y="4713287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696" name="Shape 696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Shape 702"/>
          <p:cNvSpPr txBox="1"/>
          <p:nvPr/>
        </p:nvSpPr>
        <p:spPr>
          <a:xfrm>
            <a:off x="1309687" y="492125"/>
            <a:ext cx="23415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Dialogs</a:t>
            </a:r>
          </a:p>
        </p:txBody>
      </p:sp>
      <p:sp>
        <p:nvSpPr>
          <p:cNvPr id="703" name="Shape 703"/>
          <p:cNvSpPr txBox="1"/>
          <p:nvPr/>
        </p:nvSpPr>
        <p:spPr>
          <a:xfrm>
            <a:off x="812800" y="1433512"/>
            <a:ext cx="84852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dialog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(small accessory window) can be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nonmodal</a:t>
            </a:r>
          </a:p>
        </p:txBody>
      </p:sp>
      <p:sp>
        <p:nvSpPr>
          <p:cNvPr id="704" name="Shape 704"/>
          <p:cNvSpPr txBox="1"/>
          <p:nvPr/>
        </p:nvSpPr>
        <p:spPr>
          <a:xfrm>
            <a:off x="469900" y="1473200"/>
            <a:ext cx="48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05" name="Shape 705"/>
          <p:cNvSpPr txBox="1"/>
          <p:nvPr/>
        </p:nvSpPr>
        <p:spPr>
          <a:xfrm>
            <a:off x="1212850" y="2274887"/>
            <a:ext cx="81963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your code opens a modal dialog, it waits for a result</a:t>
            </a:r>
          </a:p>
        </p:txBody>
      </p:sp>
      <p:sp>
        <p:nvSpPr>
          <p:cNvPr id="706" name="Shape 706"/>
          <p:cNvSpPr txBox="1"/>
          <p:nvPr/>
        </p:nvSpPr>
        <p:spPr>
          <a:xfrm>
            <a:off x="927100" y="2309812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07" name="Shape 707"/>
          <p:cNvSpPr txBox="1"/>
          <p:nvPr/>
        </p:nvSpPr>
        <p:spPr>
          <a:xfrm>
            <a:off x="1212850" y="2603500"/>
            <a:ext cx="4730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dialog before continuing</a:t>
            </a:r>
          </a:p>
        </p:txBody>
      </p:sp>
      <p:sp>
        <p:nvSpPr>
          <p:cNvPr id="708" name="Shape 708"/>
          <p:cNvSpPr txBox="1"/>
          <p:nvPr/>
        </p:nvSpPr>
        <p:spPr>
          <a:xfrm>
            <a:off x="1212850" y="3008311"/>
            <a:ext cx="8023200" cy="77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your code opens a nonmodal dialog, it does so in a</a:t>
            </a:r>
          </a:p>
        </p:txBody>
      </p:sp>
      <p:sp>
        <p:nvSpPr>
          <p:cNvPr id="709" name="Shape 709"/>
          <p:cNvSpPr txBox="1"/>
          <p:nvPr/>
        </p:nvSpPr>
        <p:spPr>
          <a:xfrm>
            <a:off x="927100" y="3043237"/>
            <a:ext cx="415800" cy="4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10" name="Shape 710"/>
          <p:cNvSpPr txBox="1"/>
          <p:nvPr/>
        </p:nvSpPr>
        <p:spPr>
          <a:xfrm>
            <a:off x="1212850" y="3336925"/>
            <a:ext cx="66468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thread, and your code just keeps going</a:t>
            </a:r>
          </a:p>
        </p:txBody>
      </p:sp>
      <p:sp>
        <p:nvSpPr>
          <p:cNvPr id="711" name="Shape 711"/>
          <p:cNvSpPr txBox="1"/>
          <p:nvPr/>
        </p:nvSpPr>
        <p:spPr>
          <a:xfrm>
            <a:off x="812800" y="3757612"/>
            <a:ext cx="92520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 supplies a few simple (but useful)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dialogs for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use</a:t>
            </a:r>
          </a:p>
        </p:txBody>
      </p:sp>
      <p:sp>
        <p:nvSpPr>
          <p:cNvPr id="712" name="Shape 712"/>
          <p:cNvSpPr txBox="1"/>
          <p:nvPr/>
        </p:nvSpPr>
        <p:spPr>
          <a:xfrm>
            <a:off x="469900" y="3797300"/>
            <a:ext cx="487500" cy="14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9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13" name="Shape 713"/>
          <p:cNvSpPr txBox="1"/>
          <p:nvPr/>
        </p:nvSpPr>
        <p:spPr>
          <a:xfrm>
            <a:off x="812800" y="4613275"/>
            <a:ext cx="86028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create your own dialogs (with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JDialog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but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nonmodal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</a:t>
            </a:r>
          </a:p>
        </p:txBody>
      </p:sp>
      <p:sp>
        <p:nvSpPr>
          <p:cNvPr id="714" name="Shape 714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71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Shape 720"/>
          <p:cNvSpPr txBox="1"/>
          <p:nvPr/>
        </p:nvSpPr>
        <p:spPr>
          <a:xfrm>
            <a:off x="1309687" y="492125"/>
            <a:ext cx="4134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dialogs</a:t>
            </a:r>
          </a:p>
        </p:txBody>
      </p:sp>
      <p:sp>
        <p:nvSpPr>
          <p:cNvPr id="721" name="Shape 721"/>
          <p:cNvSpPr txBox="1"/>
          <p:nvPr/>
        </p:nvSpPr>
        <p:spPr>
          <a:xfrm>
            <a:off x="812800" y="1468437"/>
            <a:ext cx="88932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9525" lvl="0" marL="1736725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JOptionPane.showMessageDialog(parentJFrame,</a:t>
            </a:r>
          </a:p>
          <a:p>
            <a:pPr indent="-9525" lvl="0" marL="1736725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"This is a JOptionPane \"message\" dialog.");</a:t>
            </a:r>
          </a:p>
        </p:txBody>
      </p:sp>
      <p:sp>
        <p:nvSpPr>
          <p:cNvPr id="722" name="Shape 722"/>
          <p:cNvSpPr txBox="1"/>
          <p:nvPr/>
        </p:nvSpPr>
        <p:spPr>
          <a:xfrm>
            <a:off x="469900" y="150177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23" name="Shape 723"/>
          <p:cNvSpPr txBox="1"/>
          <p:nvPr/>
        </p:nvSpPr>
        <p:spPr>
          <a:xfrm>
            <a:off x="812800" y="2660650"/>
            <a:ext cx="88107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 that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showMessageDialog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static method of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</a:t>
            </a:r>
          </a:p>
        </p:txBody>
      </p:sp>
      <p:sp>
        <p:nvSpPr>
          <p:cNvPr id="724" name="Shape 724"/>
          <p:cNvSpPr txBox="1"/>
          <p:nvPr/>
        </p:nvSpPr>
        <p:spPr>
          <a:xfrm>
            <a:off x="469900" y="2701925"/>
            <a:ext cx="4875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25" name="Shape 725"/>
          <p:cNvSpPr txBox="1"/>
          <p:nvPr/>
        </p:nvSpPr>
        <p:spPr>
          <a:xfrm>
            <a:off x="812800" y="3603625"/>
            <a:ext cx="84138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parentJFrame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is typically your main GUI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 (but it’s OK to use </a:t>
            </a:r>
            <a:r>
              <a:rPr b="0" i="0" lang="en-US" sz="2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don’t have a</a:t>
            </a:r>
          </a:p>
          <a:p>
            <a:pPr indent="0" lvl="0" marL="0" marR="0" rtl="0" algn="l">
              <a:lnSpc>
                <a:spcPct val="103571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GUI window)</a:t>
            </a:r>
          </a:p>
        </p:txBody>
      </p:sp>
      <p:sp>
        <p:nvSpPr>
          <p:cNvPr id="726" name="Shape 726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73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Shape 732"/>
          <p:cNvSpPr txBox="1"/>
          <p:nvPr/>
        </p:nvSpPr>
        <p:spPr>
          <a:xfrm>
            <a:off x="1309687" y="492125"/>
            <a:ext cx="40767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 dialogs</a:t>
            </a:r>
          </a:p>
        </p:txBody>
      </p:sp>
      <p:sp>
        <p:nvSpPr>
          <p:cNvPr id="733" name="Shape 733"/>
          <p:cNvSpPr txBox="1"/>
          <p:nvPr/>
        </p:nvSpPr>
        <p:spPr>
          <a:xfrm>
            <a:off x="812800" y="1468437"/>
            <a:ext cx="1971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int yesNo =</a:t>
            </a:r>
          </a:p>
        </p:txBody>
      </p:sp>
      <p:sp>
        <p:nvSpPr>
          <p:cNvPr id="734" name="Shape 734"/>
          <p:cNvSpPr txBox="1"/>
          <p:nvPr/>
        </p:nvSpPr>
        <p:spPr>
          <a:xfrm>
            <a:off x="469900" y="1501775"/>
            <a:ext cx="4158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7142"/>
              </a:lnSpc>
              <a:spcBef>
                <a:spcPts val="77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35" name="Shape 735"/>
          <p:cNvSpPr txBox="1"/>
          <p:nvPr/>
        </p:nvSpPr>
        <p:spPr>
          <a:xfrm>
            <a:off x="1452562" y="1833562"/>
            <a:ext cx="8332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6350" lvl="0" marL="255905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JOptionPane.showConfirmDialog(parentJFrame,</a:t>
            </a:r>
          </a:p>
          <a:p>
            <a:pPr indent="-6350" lvl="0" marL="2559050" marR="0" rtl="0" algn="l">
              <a:lnSpc>
                <a:spcPct val="104166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"Is this what you wanted to see?");</a:t>
            </a:r>
          </a:p>
        </p:txBody>
      </p:sp>
      <p:sp>
        <p:nvSpPr>
          <p:cNvPr id="736" name="Shape 736"/>
          <p:cNvSpPr txBox="1"/>
          <p:nvPr/>
        </p:nvSpPr>
        <p:spPr>
          <a:xfrm>
            <a:off x="1177925" y="2640012"/>
            <a:ext cx="7061100" cy="77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if (yesNo == JOptionPane.YES_OPTION) { ... }</a:t>
            </a:r>
          </a:p>
        </p:txBody>
      </p:sp>
      <p:sp>
        <p:nvSpPr>
          <p:cNvPr id="737" name="Shape 737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74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Shape 743"/>
          <p:cNvSpPr txBox="1"/>
          <p:nvPr/>
        </p:nvSpPr>
        <p:spPr>
          <a:xfrm>
            <a:off x="1309687" y="492125"/>
            <a:ext cx="3429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dialogs</a:t>
            </a:r>
          </a:p>
        </p:txBody>
      </p:sp>
      <p:sp>
        <p:nvSpPr>
          <p:cNvPr id="744" name="Shape 744"/>
          <p:cNvSpPr txBox="1"/>
          <p:nvPr/>
        </p:nvSpPr>
        <p:spPr>
          <a:xfrm>
            <a:off x="812800" y="1468437"/>
            <a:ext cx="2938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String userName =</a:t>
            </a:r>
          </a:p>
        </p:txBody>
      </p:sp>
      <p:sp>
        <p:nvSpPr>
          <p:cNvPr id="745" name="Shape 745"/>
          <p:cNvSpPr txBox="1"/>
          <p:nvPr/>
        </p:nvSpPr>
        <p:spPr>
          <a:xfrm>
            <a:off x="469900" y="1501775"/>
            <a:ext cx="41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46" name="Shape 746"/>
          <p:cNvSpPr txBox="1"/>
          <p:nvPr/>
        </p:nvSpPr>
        <p:spPr>
          <a:xfrm>
            <a:off x="1087437" y="1833562"/>
            <a:ext cx="71199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JOptionPane.showInputDialog(parentJFrame,</a:t>
            </a:r>
          </a:p>
        </p:txBody>
      </p:sp>
      <p:sp>
        <p:nvSpPr>
          <p:cNvPr id="747" name="Shape 747"/>
          <p:cNvSpPr txBox="1"/>
          <p:nvPr/>
        </p:nvSpPr>
        <p:spPr>
          <a:xfrm>
            <a:off x="5292725" y="2200275"/>
            <a:ext cx="3411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4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"What is your name?")</a:t>
            </a:r>
          </a:p>
        </p:txBody>
      </p:sp>
      <p:sp>
        <p:nvSpPr>
          <p:cNvPr id="748" name="Shape 748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Shape 75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Shape 754"/>
          <p:cNvSpPr txBox="1"/>
          <p:nvPr/>
        </p:nvSpPr>
        <p:spPr>
          <a:xfrm>
            <a:off x="1309687" y="492125"/>
            <a:ext cx="37686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 dialogs</a:t>
            </a:r>
          </a:p>
        </p:txBody>
      </p:sp>
      <p:sp>
        <p:nvSpPr>
          <p:cNvPr id="755" name="Shape 755"/>
          <p:cNvSpPr txBox="1"/>
          <p:nvPr/>
        </p:nvSpPr>
        <p:spPr>
          <a:xfrm>
            <a:off x="812800" y="1460500"/>
            <a:ext cx="2455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Object[] options =</a:t>
            </a:r>
          </a:p>
        </p:txBody>
      </p:sp>
      <p:sp>
        <p:nvSpPr>
          <p:cNvPr id="756" name="Shape 756"/>
          <p:cNvSpPr txBox="1"/>
          <p:nvPr/>
        </p:nvSpPr>
        <p:spPr>
          <a:xfrm>
            <a:off x="469900" y="148748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57" name="Shape 757"/>
          <p:cNvSpPr txBox="1"/>
          <p:nvPr/>
        </p:nvSpPr>
        <p:spPr>
          <a:xfrm>
            <a:off x="812800" y="1765300"/>
            <a:ext cx="76263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new String[] {"English", "Chinese", "French", "German" };</a:t>
            </a:r>
          </a:p>
          <a:p>
            <a:pPr indent="0" lvl="0" marL="30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int option =</a:t>
            </a:r>
          </a:p>
        </p:txBody>
      </p:sp>
      <p:sp>
        <p:nvSpPr>
          <p:cNvPr id="758" name="Shape 758"/>
          <p:cNvSpPr txBox="1"/>
          <p:nvPr/>
        </p:nvSpPr>
        <p:spPr>
          <a:xfrm>
            <a:off x="1117600" y="2374900"/>
            <a:ext cx="68628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JOptionPane.showOptionDialog(parentJFrame,</a:t>
            </a:r>
          </a:p>
          <a:p>
            <a:pPr indent="0" lvl="0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"Choose an option:",</a:t>
            </a:r>
          </a:p>
        </p:txBody>
      </p:sp>
      <p:sp>
        <p:nvSpPr>
          <p:cNvPr id="759" name="Shape 759"/>
          <p:cNvSpPr txBox="1"/>
          <p:nvPr/>
        </p:nvSpPr>
        <p:spPr>
          <a:xfrm>
            <a:off x="4775200" y="2984500"/>
            <a:ext cx="2179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"Option Dialog",</a:t>
            </a:r>
          </a:p>
        </p:txBody>
      </p:sp>
      <p:sp>
        <p:nvSpPr>
          <p:cNvPr id="760" name="Shape 760"/>
          <p:cNvSpPr txBox="1"/>
          <p:nvPr/>
        </p:nvSpPr>
        <p:spPr>
          <a:xfrm>
            <a:off x="4775200" y="3289300"/>
            <a:ext cx="45054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JOptionPane.YES_NO_OPTION,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JOptionPane.QUESTION_MESSAGE,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null,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options,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options[0]); </a:t>
            </a:r>
            <a:r>
              <a:rPr b="0" i="0" lang="en-US" sz="2000" u="none">
                <a:solidFill>
                  <a:srgbClr val="007F00"/>
                </a:solidFill>
                <a:latin typeface="Arial"/>
                <a:ea typeface="Arial"/>
                <a:cs typeface="Arial"/>
                <a:sym typeface="Arial"/>
              </a:rPr>
              <a:t>// use as default</a:t>
            </a:r>
          </a:p>
        </p:txBody>
      </p:sp>
      <p:sp>
        <p:nvSpPr>
          <p:cNvPr id="761" name="Shape 761"/>
          <p:cNvSpPr txBox="1"/>
          <p:nvPr/>
        </p:nvSpPr>
        <p:spPr>
          <a:xfrm>
            <a:off x="738187" y="4972050"/>
            <a:ext cx="7340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Fourth argument could be </a:t>
            </a:r>
            <a:r>
              <a:rPr b="0" i="0" lang="en-US" sz="1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JOptionPane.YES_NO_CANCEL_OPTION</a:t>
            </a:r>
          </a:p>
        </p:txBody>
      </p:sp>
      <p:sp>
        <p:nvSpPr>
          <p:cNvPr id="762" name="Shape 762"/>
          <p:cNvSpPr txBox="1"/>
          <p:nvPr/>
        </p:nvSpPr>
        <p:spPr>
          <a:xfrm>
            <a:off x="395287" y="4997450"/>
            <a:ext cx="314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1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63" name="Shape 763"/>
          <p:cNvSpPr txBox="1"/>
          <p:nvPr/>
        </p:nvSpPr>
        <p:spPr>
          <a:xfrm>
            <a:off x="738187" y="5275262"/>
            <a:ext cx="78360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Fifth argument specifies which icon to use in the dialog; it could be one of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ERROR_MESSAGE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1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INFORMATION_MESSAGE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1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WARNING_MESSAGE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PLAIN_MESSAGE</a:t>
            </a:r>
          </a:p>
        </p:txBody>
      </p:sp>
      <p:sp>
        <p:nvSpPr>
          <p:cNvPr id="764" name="Shape 764"/>
          <p:cNvSpPr txBox="1"/>
          <p:nvPr/>
        </p:nvSpPr>
        <p:spPr>
          <a:xfrm>
            <a:off x="395287" y="5302250"/>
            <a:ext cx="314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1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65" name="Shape 765"/>
          <p:cNvSpPr txBox="1"/>
          <p:nvPr/>
        </p:nvSpPr>
        <p:spPr>
          <a:xfrm>
            <a:off x="738187" y="6072187"/>
            <a:ext cx="5778600" cy="581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Sixth argument (</a:t>
            </a:r>
            <a:r>
              <a:rPr b="0" i="0" lang="en-US" sz="18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above) can specify a custom icon</a:t>
            </a:r>
          </a:p>
        </p:txBody>
      </p:sp>
      <p:sp>
        <p:nvSpPr>
          <p:cNvPr id="766" name="Shape 766"/>
          <p:cNvSpPr txBox="1"/>
          <p:nvPr/>
        </p:nvSpPr>
        <p:spPr>
          <a:xfrm>
            <a:off x="395287" y="6099175"/>
            <a:ext cx="314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1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67" name="Shape 767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Shape 77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 txBox="1"/>
          <p:nvPr/>
        </p:nvSpPr>
        <p:spPr>
          <a:xfrm>
            <a:off x="1309687" y="492125"/>
            <a:ext cx="42021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file dialogs</a:t>
            </a:r>
          </a:p>
        </p:txBody>
      </p:sp>
      <p:sp>
        <p:nvSpPr>
          <p:cNvPr id="774" name="Shape 774"/>
          <p:cNvSpPr txBox="1"/>
          <p:nvPr/>
        </p:nvSpPr>
        <p:spPr>
          <a:xfrm>
            <a:off x="812800" y="1460500"/>
            <a:ext cx="5702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JFileChooser chooser = new JFileChooser();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chooser.setDialogTitle("Load which file?");</a:t>
            </a:r>
          </a:p>
        </p:txBody>
      </p:sp>
      <p:sp>
        <p:nvSpPr>
          <p:cNvPr id="775" name="Shape 775"/>
          <p:cNvSpPr txBox="1"/>
          <p:nvPr/>
        </p:nvSpPr>
        <p:spPr>
          <a:xfrm>
            <a:off x="469900" y="1487487"/>
            <a:ext cx="344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76" name="Shape 776"/>
          <p:cNvSpPr txBox="1"/>
          <p:nvPr/>
        </p:nvSpPr>
        <p:spPr>
          <a:xfrm>
            <a:off x="812800" y="2133600"/>
            <a:ext cx="7250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int result = chooser.showOpenDialog(enclosingJFrame);</a:t>
            </a:r>
          </a:p>
        </p:txBody>
      </p:sp>
      <p:sp>
        <p:nvSpPr>
          <p:cNvPr id="777" name="Shape 777"/>
          <p:cNvSpPr txBox="1"/>
          <p:nvPr/>
        </p:nvSpPr>
        <p:spPr>
          <a:xfrm>
            <a:off x="812800" y="2438400"/>
            <a:ext cx="6000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if (result == JFileChooser.APPROVE_OPTION) {</a:t>
            </a:r>
          </a:p>
        </p:txBody>
      </p:sp>
      <p:sp>
        <p:nvSpPr>
          <p:cNvPr id="778" name="Shape 778"/>
          <p:cNvSpPr txBox="1"/>
          <p:nvPr/>
        </p:nvSpPr>
        <p:spPr>
          <a:xfrm>
            <a:off x="812800" y="2743200"/>
            <a:ext cx="5121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File file = chooser.getSelectedFile();</a:t>
            </a:r>
          </a:p>
          <a:p>
            <a:pPr indent="0" lvl="0" marL="30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// use file</a:t>
            </a:r>
          </a:p>
          <a:p>
            <a:pPr indent="0" lvl="0" marL="30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779" name="Shape 779"/>
          <p:cNvSpPr txBox="1"/>
          <p:nvPr/>
        </p:nvSpPr>
        <p:spPr>
          <a:xfrm>
            <a:off x="738186" y="3898900"/>
            <a:ext cx="26748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could also test for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CANCEL_OPTION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ERROR_OPTION</a:t>
            </a:r>
          </a:p>
        </p:txBody>
      </p:sp>
      <p:sp>
        <p:nvSpPr>
          <p:cNvPr id="780" name="Shape 780"/>
          <p:cNvSpPr txBox="1"/>
          <p:nvPr/>
        </p:nvSpPr>
        <p:spPr>
          <a:xfrm>
            <a:off x="395287" y="392588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738187" y="4876800"/>
            <a:ext cx="3020999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get back a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object; to use it, you must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 how to do file I/O</a:t>
            </a:r>
          </a:p>
        </p:txBody>
      </p:sp>
      <p:sp>
        <p:nvSpPr>
          <p:cNvPr id="782" name="Shape 782"/>
          <p:cNvSpPr txBox="1"/>
          <p:nvPr/>
        </p:nvSpPr>
        <p:spPr>
          <a:xfrm>
            <a:off x="395287" y="490378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83" name="Shape 783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78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Shape 789"/>
          <p:cNvSpPr txBox="1"/>
          <p:nvPr/>
        </p:nvSpPr>
        <p:spPr>
          <a:xfrm>
            <a:off x="1309687" y="492125"/>
            <a:ext cx="41481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file dialogs</a:t>
            </a:r>
          </a:p>
        </p:txBody>
      </p:sp>
      <p:sp>
        <p:nvSpPr>
          <p:cNvPr id="790" name="Shape 790"/>
          <p:cNvSpPr txBox="1"/>
          <p:nvPr/>
        </p:nvSpPr>
        <p:spPr>
          <a:xfrm>
            <a:off x="812800" y="1460500"/>
            <a:ext cx="5702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JFileChooser chooser = new JFileChooser();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chooser.setDialogTitle(“Save file as?");</a:t>
            </a:r>
          </a:p>
        </p:txBody>
      </p:sp>
      <p:sp>
        <p:nvSpPr>
          <p:cNvPr id="791" name="Shape 791"/>
          <p:cNvSpPr txBox="1"/>
          <p:nvPr/>
        </p:nvSpPr>
        <p:spPr>
          <a:xfrm>
            <a:off x="469900" y="1487487"/>
            <a:ext cx="344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92" name="Shape 792"/>
          <p:cNvSpPr txBox="1"/>
          <p:nvPr/>
        </p:nvSpPr>
        <p:spPr>
          <a:xfrm>
            <a:off x="812800" y="2133600"/>
            <a:ext cx="7167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int result = chooser.showSaveDialog(enclosingJFrame);</a:t>
            </a:r>
          </a:p>
        </p:txBody>
      </p:sp>
      <p:sp>
        <p:nvSpPr>
          <p:cNvPr id="793" name="Shape 793"/>
          <p:cNvSpPr txBox="1"/>
          <p:nvPr/>
        </p:nvSpPr>
        <p:spPr>
          <a:xfrm>
            <a:off x="812800" y="2438400"/>
            <a:ext cx="6000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if (result == JFileChooser.APPROVE_OPTION) {</a:t>
            </a:r>
          </a:p>
        </p:txBody>
      </p:sp>
      <p:sp>
        <p:nvSpPr>
          <p:cNvPr id="794" name="Shape 794"/>
          <p:cNvSpPr txBox="1"/>
          <p:nvPr/>
        </p:nvSpPr>
        <p:spPr>
          <a:xfrm>
            <a:off x="812800" y="2743200"/>
            <a:ext cx="5121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File file = chooser.getSelectedFile();</a:t>
            </a:r>
          </a:p>
          <a:p>
            <a:pPr indent="0" lvl="0" marL="30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// use file</a:t>
            </a:r>
          </a:p>
          <a:p>
            <a:pPr indent="0" lvl="0" marL="30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795" name="Shape 795"/>
          <p:cNvSpPr txBox="1"/>
          <p:nvPr/>
        </p:nvSpPr>
        <p:spPr>
          <a:xfrm>
            <a:off x="738186" y="3898900"/>
            <a:ext cx="26748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could also test for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CANCEL_OPTION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00FF"/>
              </a:buClr>
              <a:buSzPct val="25000"/>
              <a:buFont typeface="Arial"/>
              <a:buNone/>
            </a:pP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ERROR_OPTION</a:t>
            </a:r>
          </a:p>
        </p:txBody>
      </p:sp>
      <p:sp>
        <p:nvSpPr>
          <p:cNvPr id="796" name="Shape 796"/>
          <p:cNvSpPr txBox="1"/>
          <p:nvPr/>
        </p:nvSpPr>
        <p:spPr>
          <a:xfrm>
            <a:off x="395287" y="392588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97" name="Shape 797"/>
          <p:cNvSpPr txBox="1"/>
          <p:nvPr/>
        </p:nvSpPr>
        <p:spPr>
          <a:xfrm>
            <a:off x="738187" y="4876800"/>
            <a:ext cx="3020999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get back a </a:t>
            </a:r>
            <a:r>
              <a:rPr b="0" i="0" lang="en-US" sz="2000" u="none">
                <a:solidFill>
                  <a:srgbClr val="3300F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object; to use it, you must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 how to do file I/O</a:t>
            </a:r>
          </a:p>
        </p:txBody>
      </p:sp>
      <p:sp>
        <p:nvSpPr>
          <p:cNvPr id="798" name="Shape 798"/>
          <p:cNvSpPr txBox="1"/>
          <p:nvPr/>
        </p:nvSpPr>
        <p:spPr>
          <a:xfrm>
            <a:off x="395287" y="4903787"/>
            <a:ext cx="344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799" name="Shape 799"/>
          <p:cNvSpPr txBox="1"/>
          <p:nvPr/>
        </p:nvSpPr>
        <p:spPr>
          <a:xfrm>
            <a:off x="8856662" y="6626225"/>
            <a:ext cx="46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mo"/>
              <a:buNone/>
            </a:pPr>
            <a:r>
              <a:rPr b="0" i="0" lang="en-US" sz="1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80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Shape 805"/>
          <p:cNvSpPr txBox="1"/>
          <p:nvPr/>
        </p:nvSpPr>
        <p:spPr>
          <a:xfrm>
            <a:off x="1309687" y="492125"/>
            <a:ext cx="2313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ct val="25000"/>
              <a:buFont typeface="Times New Roman"/>
              <a:buNone/>
            </a:pPr>
            <a:r>
              <a:rPr b="0" i="0" lang="en-US" sz="4000" u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</a:p>
        </p:txBody>
      </p:sp>
      <p:sp>
        <p:nvSpPr>
          <p:cNvPr id="806" name="Shape 806"/>
          <p:cNvSpPr txBox="1"/>
          <p:nvPr/>
        </p:nvSpPr>
        <p:spPr>
          <a:xfrm>
            <a:off x="511175" y="1476375"/>
            <a:ext cx="33783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GUI</a:t>
            </a:r>
          </a:p>
        </p:txBody>
      </p:sp>
      <p:sp>
        <p:nvSpPr>
          <p:cNvPr id="807" name="Shape 807"/>
          <p:cNvSpPr txBox="1"/>
          <p:nvPr/>
        </p:nvSpPr>
        <p:spPr>
          <a:xfrm>
            <a:off x="168275" y="1516062"/>
            <a:ext cx="487500" cy="4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73D9"/>
              </a:buClr>
              <a:buSzPct val="25000"/>
              <a:buFont typeface="Noto Sans Symbols"/>
              <a:buNone/>
            </a:pPr>
            <a:r>
              <a:rPr b="0" i="0" lang="en-US" sz="1700" u="none">
                <a:solidFill>
                  <a:srgbClr val="0073D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</a:t>
            </a:r>
          </a:p>
        </p:txBody>
      </p:sp>
      <p:sp>
        <p:nvSpPr>
          <p:cNvPr id="808" name="Shape 808"/>
          <p:cNvSpPr txBox="1"/>
          <p:nvPr/>
        </p:nvSpPr>
        <p:spPr>
          <a:xfrm>
            <a:off x="511175" y="1990725"/>
            <a:ext cx="3510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AWT</a:t>
            </a:r>
          </a:p>
        </p:txBody>
      </p:sp>
      <p:sp>
        <p:nvSpPr>
          <p:cNvPr id="809" name="Shape 809"/>
          <p:cNvSpPr txBox="1"/>
          <p:nvPr/>
        </p:nvSpPr>
        <p:spPr>
          <a:xfrm>
            <a:off x="511175" y="2506662"/>
            <a:ext cx="3656100" cy="903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Swing</a:t>
            </a:r>
          </a:p>
        </p:txBody>
      </p:sp>
      <p:sp>
        <p:nvSpPr>
          <p:cNvPr id="810" name="Shape 810"/>
          <p:cNvSpPr txBox="1"/>
          <p:nvPr/>
        </p:nvSpPr>
        <p:spPr>
          <a:xfrm>
            <a:off x="511175" y="3022600"/>
            <a:ext cx="50325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b/w Swing and Awt</a:t>
            </a:r>
          </a:p>
        </p:txBody>
      </p:sp>
      <p:sp>
        <p:nvSpPr>
          <p:cNvPr id="811" name="Shape 811"/>
          <p:cNvSpPr txBox="1"/>
          <p:nvPr/>
        </p:nvSpPr>
        <p:spPr>
          <a:xfrm>
            <a:off x="511175" y="3536950"/>
            <a:ext cx="9852000" cy="24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3571"/>
              </a:lnSpc>
              <a:spcBef>
                <a:spcPts val="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we'll recomend to use "SWING"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Component,Container,Panels,window,Frame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Implemention of JFrame and Adding component</a:t>
            </a:r>
          </a:p>
          <a:p>
            <a:pPr indent="0" lvl="0" marL="0" marR="0" rtl="0" algn="l">
              <a:lnSpc>
                <a:spcPct val="103571"/>
              </a:lnSpc>
              <a:spcBef>
                <a:spcPts val="1100"/>
              </a:spcBef>
              <a:spcAft>
                <a:spcPts val="0"/>
              </a:spcAft>
              <a:buClr>
                <a:srgbClr val="BF00FF"/>
              </a:buClr>
              <a:buSzPct val="25000"/>
              <a:buFont typeface="Times New Roman"/>
              <a:buNone/>
            </a:pPr>
            <a:r>
              <a:rPr b="0" i="0" lang="en-US" sz="2800" u="none">
                <a:solidFill>
                  <a:srgbClr val="B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with NETBEANS to make GUI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8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6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7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5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