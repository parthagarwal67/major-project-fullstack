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1" r:id="rId6"/>
    <p:sldId id="262" r:id="rId7"/>
    <p:sldId id="264" r:id="rId8"/>
    <p:sldId id="265" r:id="rId9"/>
    <p:sldId id="266" r:id="rId10"/>
    <p:sldId id="267" r:id="rId11"/>
    <p:sldId id="268" r:id="rId12"/>
    <p:sldId id="271" r:id="rId13"/>
    <p:sldId id="270" r:id="rId14"/>
  </p:sldIdLst>
  <p:sldSz cx="10083800" cy="7562850"/>
  <p:notesSz cx="10083800" cy="75628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5" d="100"/>
          <a:sy n="75" d="100"/>
        </p:scale>
        <p:origin x="-1445" y="-91"/>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6285" y="2344483"/>
            <a:ext cx="8571230" cy="158819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512570" y="4235196"/>
            <a:ext cx="7058660" cy="18907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4/19/2020</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15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4/19/2020</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15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504190" y="1739455"/>
            <a:ext cx="4386453"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93157" y="1739455"/>
            <a:ext cx="4386453"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4/19/2020</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15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4/19/2020</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4/19/2020</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0081259" cy="7559038"/>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232785" y="567309"/>
            <a:ext cx="3618229" cy="656590"/>
          </a:xfrm>
          <a:prstGeom prst="rect">
            <a:avLst/>
          </a:prstGeom>
        </p:spPr>
        <p:txBody>
          <a:bodyPr wrap="square" lIns="0" tIns="0" rIns="0" bIns="0">
            <a:spAutoFit/>
          </a:bodyPr>
          <a:lstStyle>
            <a:lvl1pPr>
              <a:defRPr sz="415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525068" y="1744167"/>
            <a:ext cx="9033662" cy="2465704"/>
          </a:xfrm>
          <a:prstGeom prst="rect">
            <a:avLst/>
          </a:prstGeom>
        </p:spPr>
        <p:txBody>
          <a:bodyPr wrap="square" lIns="0" tIns="0" rIns="0" bIns="0">
            <a:spAutoFit/>
          </a:bodyPr>
          <a:lstStyle>
            <a:lvl1pPr>
              <a:defRPr sz="32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428492" y="7033450"/>
            <a:ext cx="3226816"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4190" y="7033450"/>
            <a:ext cx="2319274"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4/19/2020</a:t>
            </a:fld>
            <a:endParaRPr lang="en-US"/>
          </a:p>
        </p:txBody>
      </p:sp>
      <p:sp>
        <p:nvSpPr>
          <p:cNvPr id="6" name="Holder 6"/>
          <p:cNvSpPr>
            <a:spLocks noGrp="1"/>
          </p:cNvSpPr>
          <p:nvPr>
            <p:ph type="sldNum" sz="quarter" idx="7"/>
          </p:nvPr>
        </p:nvSpPr>
        <p:spPr>
          <a:xfrm>
            <a:off x="7260336" y="7033450"/>
            <a:ext cx="2319274"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7295" y="1902663"/>
            <a:ext cx="8645525" cy="1031875"/>
          </a:xfrm>
          <a:prstGeom prst="rect">
            <a:avLst/>
          </a:prstGeom>
        </p:spPr>
        <p:txBody>
          <a:bodyPr vert="horz" wrap="square" lIns="0" tIns="12700" rIns="0" bIns="0" rtlCol="0">
            <a:spAutoFit/>
          </a:bodyPr>
          <a:lstStyle/>
          <a:p>
            <a:pPr marL="12700">
              <a:lnSpc>
                <a:spcPct val="100000"/>
              </a:lnSpc>
              <a:spcBef>
                <a:spcPts val="100"/>
              </a:spcBef>
            </a:pPr>
            <a:r>
              <a:rPr sz="6600" b="1" dirty="0">
                <a:latin typeface="Times New Roman"/>
                <a:cs typeface="Times New Roman"/>
              </a:rPr>
              <a:t>ARP &amp; RARP</a:t>
            </a:r>
            <a:r>
              <a:rPr sz="6600" b="1" spc="-835" dirty="0">
                <a:latin typeface="Times New Roman"/>
                <a:cs typeface="Times New Roman"/>
              </a:rPr>
              <a:t> </a:t>
            </a:r>
            <a:r>
              <a:rPr sz="6600" b="1" spc="-15" dirty="0">
                <a:latin typeface="Times New Roman"/>
                <a:cs typeface="Times New Roman"/>
              </a:rPr>
              <a:t>Protocols</a:t>
            </a:r>
            <a:endParaRPr sz="6600">
              <a:latin typeface="Times New Roman"/>
              <a:cs typeface="Times New Roman"/>
            </a:endParaRPr>
          </a:p>
        </p:txBody>
      </p:sp>
      <p:sp>
        <p:nvSpPr>
          <p:cNvPr id="3" name="object 3"/>
          <p:cNvSpPr txBox="1"/>
          <p:nvPr/>
        </p:nvSpPr>
        <p:spPr>
          <a:xfrm>
            <a:off x="9326626" y="4788789"/>
            <a:ext cx="161290" cy="513715"/>
          </a:xfrm>
          <a:prstGeom prst="rect">
            <a:avLst/>
          </a:prstGeom>
        </p:spPr>
        <p:txBody>
          <a:bodyPr vert="horz" wrap="square" lIns="0" tIns="12700" rIns="0" bIns="0" rtlCol="0">
            <a:spAutoFit/>
          </a:bodyPr>
          <a:lstStyle/>
          <a:p>
            <a:pPr marL="12700">
              <a:lnSpc>
                <a:spcPct val="100000"/>
              </a:lnSpc>
              <a:spcBef>
                <a:spcPts val="100"/>
              </a:spcBef>
            </a:pPr>
            <a:r>
              <a:rPr sz="3200" dirty="0">
                <a:latin typeface="Times New Roman"/>
                <a:cs typeface="Times New Roman"/>
              </a:rPr>
              <a:t>-</a:t>
            </a:r>
            <a:endParaRPr sz="32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89401" y="567309"/>
            <a:ext cx="4159885" cy="656590"/>
          </a:xfrm>
          <a:prstGeom prst="rect">
            <a:avLst/>
          </a:prstGeom>
        </p:spPr>
        <p:txBody>
          <a:bodyPr vert="horz" wrap="square" lIns="0" tIns="11430" rIns="0" bIns="0" rtlCol="0">
            <a:spAutoFit/>
          </a:bodyPr>
          <a:lstStyle/>
          <a:p>
            <a:pPr marL="12700">
              <a:lnSpc>
                <a:spcPct val="100000"/>
              </a:lnSpc>
              <a:spcBef>
                <a:spcPts val="90"/>
              </a:spcBef>
            </a:pPr>
            <a:r>
              <a:rPr spc="-10" dirty="0"/>
              <a:t>What </a:t>
            </a:r>
            <a:r>
              <a:rPr spc="-5" dirty="0"/>
              <a:t>is a</a:t>
            </a:r>
            <a:r>
              <a:rPr spc="-65" dirty="0"/>
              <a:t> </a:t>
            </a:r>
            <a:r>
              <a:rPr spc="-5" dirty="0"/>
              <a:t>Protocol?</a:t>
            </a:r>
          </a:p>
        </p:txBody>
      </p:sp>
      <p:sp>
        <p:nvSpPr>
          <p:cNvPr id="3" name="object 3"/>
          <p:cNvSpPr/>
          <p:nvPr/>
        </p:nvSpPr>
        <p:spPr>
          <a:xfrm>
            <a:off x="1728470" y="2127504"/>
            <a:ext cx="152400" cy="11430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728470" y="3103118"/>
            <a:ext cx="152400" cy="11430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728470" y="4078478"/>
            <a:ext cx="152400" cy="114300"/>
          </a:xfrm>
          <a:prstGeom prst="rect">
            <a:avLst/>
          </a:prstGeom>
          <a:blipFill>
            <a:blip r:embed="rId2" cstate="print"/>
            <a:stretch>
              <a:fillRect/>
            </a:stretch>
          </a:blipFill>
        </p:spPr>
        <p:txBody>
          <a:bodyPr wrap="square" lIns="0" tIns="0" rIns="0" bIns="0" rtlCol="0"/>
          <a:lstStyle/>
          <a:p>
            <a:endParaRPr/>
          </a:p>
        </p:txBody>
      </p:sp>
      <p:sp>
        <p:nvSpPr>
          <p:cNvPr id="6" name="object 6"/>
          <p:cNvSpPr txBox="1"/>
          <p:nvPr/>
        </p:nvSpPr>
        <p:spPr>
          <a:xfrm>
            <a:off x="2038857" y="1799336"/>
            <a:ext cx="7193280" cy="2465070"/>
          </a:xfrm>
          <a:prstGeom prst="rect">
            <a:avLst/>
          </a:prstGeom>
        </p:spPr>
        <p:txBody>
          <a:bodyPr vert="horz" wrap="square" lIns="0" tIns="13335" rIns="0" bIns="0" rtlCol="0">
            <a:spAutoFit/>
          </a:bodyPr>
          <a:lstStyle/>
          <a:p>
            <a:pPr marL="12700" marR="1239520">
              <a:lnSpc>
                <a:spcPct val="100000"/>
              </a:lnSpc>
              <a:spcBef>
                <a:spcPts val="105"/>
              </a:spcBef>
            </a:pPr>
            <a:r>
              <a:rPr sz="3200" dirty="0">
                <a:latin typeface="Arial"/>
                <a:cs typeface="Arial"/>
              </a:rPr>
              <a:t>A set of </a:t>
            </a:r>
            <a:r>
              <a:rPr sz="3200" spc="-5" dirty="0">
                <a:latin typeface="Arial"/>
                <a:cs typeface="Arial"/>
              </a:rPr>
              <a:t>rules </a:t>
            </a:r>
            <a:r>
              <a:rPr sz="3200" dirty="0">
                <a:latin typeface="Arial"/>
                <a:cs typeface="Arial"/>
              </a:rPr>
              <a:t>in which</a:t>
            </a:r>
            <a:r>
              <a:rPr sz="3200" spc="-290" dirty="0">
                <a:latin typeface="Arial"/>
                <a:cs typeface="Arial"/>
              </a:rPr>
              <a:t> </a:t>
            </a:r>
            <a:r>
              <a:rPr sz="3200" spc="-5" dirty="0">
                <a:latin typeface="Arial"/>
                <a:cs typeface="Arial"/>
              </a:rPr>
              <a:t>computers  </a:t>
            </a:r>
            <a:r>
              <a:rPr sz="3200" dirty="0">
                <a:latin typeface="Arial"/>
                <a:cs typeface="Arial"/>
              </a:rPr>
              <a:t>communicate with each</a:t>
            </a:r>
            <a:r>
              <a:rPr sz="3200" spc="-140" dirty="0">
                <a:latin typeface="Arial"/>
                <a:cs typeface="Arial"/>
              </a:rPr>
              <a:t> </a:t>
            </a:r>
            <a:r>
              <a:rPr sz="3200" spc="-25" dirty="0">
                <a:latin typeface="Arial"/>
                <a:cs typeface="Arial"/>
              </a:rPr>
              <a:t>other...</a:t>
            </a:r>
            <a:endParaRPr sz="3200">
              <a:latin typeface="Arial"/>
              <a:cs typeface="Arial"/>
            </a:endParaRPr>
          </a:p>
          <a:p>
            <a:pPr marL="12700" marR="5080" indent="112395">
              <a:lnSpc>
                <a:spcPct val="100000"/>
              </a:lnSpc>
            </a:pPr>
            <a:r>
              <a:rPr sz="3200" spc="-5" dirty="0">
                <a:latin typeface="Arial"/>
                <a:cs typeface="Arial"/>
              </a:rPr>
              <a:t>What part </a:t>
            </a:r>
            <a:r>
              <a:rPr sz="3200" dirty="0">
                <a:latin typeface="Arial"/>
                <a:cs typeface="Arial"/>
              </a:rPr>
              <a:t>of the conversation comes</a:t>
            </a:r>
            <a:r>
              <a:rPr sz="3200" spc="-195" dirty="0">
                <a:latin typeface="Arial"/>
                <a:cs typeface="Arial"/>
              </a:rPr>
              <a:t> </a:t>
            </a:r>
            <a:r>
              <a:rPr sz="3200" dirty="0">
                <a:latin typeface="Arial"/>
                <a:cs typeface="Arial"/>
              </a:rPr>
              <a:t>at  which</a:t>
            </a:r>
            <a:r>
              <a:rPr sz="3200" spc="-25" dirty="0">
                <a:latin typeface="Arial"/>
                <a:cs typeface="Arial"/>
              </a:rPr>
              <a:t> </a:t>
            </a:r>
            <a:r>
              <a:rPr sz="3200" spc="-5" dirty="0">
                <a:latin typeface="Arial"/>
                <a:cs typeface="Arial"/>
              </a:rPr>
              <a:t>time...</a:t>
            </a:r>
            <a:endParaRPr sz="3200">
              <a:latin typeface="Arial"/>
              <a:cs typeface="Arial"/>
            </a:endParaRPr>
          </a:p>
          <a:p>
            <a:pPr marL="125095">
              <a:lnSpc>
                <a:spcPct val="100000"/>
              </a:lnSpc>
            </a:pPr>
            <a:r>
              <a:rPr sz="3200" dirty="0">
                <a:latin typeface="Arial"/>
                <a:cs typeface="Arial"/>
              </a:rPr>
              <a:t>How to </a:t>
            </a:r>
            <a:r>
              <a:rPr sz="3200" spc="-5" dirty="0">
                <a:latin typeface="Arial"/>
                <a:cs typeface="Arial"/>
              </a:rPr>
              <a:t>end the</a:t>
            </a:r>
            <a:r>
              <a:rPr sz="3200" spc="-75" dirty="0">
                <a:latin typeface="Arial"/>
                <a:cs typeface="Arial"/>
              </a:rPr>
              <a:t> </a:t>
            </a:r>
            <a:r>
              <a:rPr sz="3200" spc="-5" dirty="0">
                <a:latin typeface="Arial"/>
                <a:cs typeface="Arial"/>
              </a:rPr>
              <a:t>communication...</a:t>
            </a:r>
            <a:endParaRPr sz="32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09827" y="914400"/>
            <a:ext cx="356616" cy="263652"/>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075436" y="587756"/>
            <a:ext cx="8105140" cy="656590"/>
          </a:xfrm>
          <a:prstGeom prst="rect">
            <a:avLst/>
          </a:prstGeom>
        </p:spPr>
        <p:txBody>
          <a:bodyPr vert="horz" wrap="square" lIns="0" tIns="11430" rIns="0" bIns="0" rtlCol="0">
            <a:spAutoFit/>
          </a:bodyPr>
          <a:lstStyle/>
          <a:p>
            <a:pPr marL="12700">
              <a:lnSpc>
                <a:spcPct val="100000"/>
              </a:lnSpc>
              <a:spcBef>
                <a:spcPts val="90"/>
              </a:spcBef>
            </a:pPr>
            <a:r>
              <a:rPr spc="-15" dirty="0"/>
              <a:t>Different </a:t>
            </a:r>
            <a:r>
              <a:rPr spc="-5" dirty="0"/>
              <a:t>Protocols </a:t>
            </a:r>
            <a:r>
              <a:rPr spc="-10" dirty="0"/>
              <a:t>Used </a:t>
            </a:r>
            <a:r>
              <a:rPr spc="-5" dirty="0"/>
              <a:t>over</a:t>
            </a:r>
            <a:r>
              <a:rPr spc="-40" dirty="0"/>
              <a:t> </a:t>
            </a:r>
            <a:r>
              <a:rPr spc="-5" dirty="0"/>
              <a:t>Internet</a:t>
            </a:r>
          </a:p>
        </p:txBody>
      </p:sp>
      <p:sp>
        <p:nvSpPr>
          <p:cNvPr id="4" name="object 4"/>
          <p:cNvSpPr/>
          <p:nvPr/>
        </p:nvSpPr>
        <p:spPr>
          <a:xfrm>
            <a:off x="1728470" y="2127504"/>
            <a:ext cx="152400" cy="114300"/>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728470" y="2615184"/>
            <a:ext cx="152400" cy="114300"/>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1728470" y="3103118"/>
            <a:ext cx="152400" cy="1143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728470" y="3590798"/>
            <a:ext cx="152400" cy="11430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728470" y="4078478"/>
            <a:ext cx="152400" cy="114300"/>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1728470" y="4566539"/>
            <a:ext cx="152400" cy="114300"/>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728470" y="5054219"/>
            <a:ext cx="152400" cy="114300"/>
          </a:xfrm>
          <a:prstGeom prst="rect">
            <a:avLst/>
          </a:prstGeom>
          <a:blipFill>
            <a:blip r:embed="rId3" cstate="print"/>
            <a:stretch>
              <a:fillRect/>
            </a:stretch>
          </a:blipFill>
        </p:spPr>
        <p:txBody>
          <a:bodyPr wrap="square" lIns="0" tIns="0" rIns="0" bIns="0" rtlCol="0"/>
          <a:lstStyle/>
          <a:p>
            <a:endParaRPr/>
          </a:p>
        </p:txBody>
      </p:sp>
      <p:sp>
        <p:nvSpPr>
          <p:cNvPr id="11" name="object 11"/>
          <p:cNvSpPr txBox="1"/>
          <p:nvPr/>
        </p:nvSpPr>
        <p:spPr>
          <a:xfrm>
            <a:off x="2038857" y="1799336"/>
            <a:ext cx="7466330" cy="3440429"/>
          </a:xfrm>
          <a:prstGeom prst="rect">
            <a:avLst/>
          </a:prstGeom>
        </p:spPr>
        <p:txBody>
          <a:bodyPr vert="horz" wrap="square" lIns="0" tIns="13335" rIns="0" bIns="0" rtlCol="0">
            <a:spAutoFit/>
          </a:bodyPr>
          <a:lstStyle/>
          <a:p>
            <a:pPr marL="12700">
              <a:lnSpc>
                <a:spcPct val="100000"/>
              </a:lnSpc>
              <a:spcBef>
                <a:spcPts val="105"/>
              </a:spcBef>
            </a:pPr>
            <a:r>
              <a:rPr sz="3200" spc="-5" dirty="0">
                <a:latin typeface="Arial"/>
                <a:cs typeface="Arial"/>
              </a:rPr>
              <a:t>IP(Internet</a:t>
            </a:r>
            <a:r>
              <a:rPr sz="3200" spc="-40" dirty="0">
                <a:latin typeface="Arial"/>
                <a:cs typeface="Arial"/>
              </a:rPr>
              <a:t> </a:t>
            </a:r>
            <a:r>
              <a:rPr sz="3200" spc="-5" dirty="0">
                <a:latin typeface="Arial"/>
                <a:cs typeface="Arial"/>
              </a:rPr>
              <a:t>Protocol)</a:t>
            </a:r>
            <a:endParaRPr sz="3200">
              <a:latin typeface="Arial"/>
              <a:cs typeface="Arial"/>
            </a:endParaRPr>
          </a:p>
          <a:p>
            <a:pPr marL="12700" marR="981710">
              <a:lnSpc>
                <a:spcPct val="100000"/>
              </a:lnSpc>
            </a:pPr>
            <a:r>
              <a:rPr sz="3200" dirty="0">
                <a:latin typeface="Arial"/>
                <a:cs typeface="Arial"/>
              </a:rPr>
              <a:t>HTTP(Hyper </a:t>
            </a:r>
            <a:r>
              <a:rPr sz="3200" spc="-90" dirty="0">
                <a:latin typeface="Arial"/>
                <a:cs typeface="Arial"/>
              </a:rPr>
              <a:t>Text </a:t>
            </a:r>
            <a:r>
              <a:rPr sz="3200" spc="-15" dirty="0">
                <a:latin typeface="Arial"/>
                <a:cs typeface="Arial"/>
              </a:rPr>
              <a:t>Transfer</a:t>
            </a:r>
            <a:r>
              <a:rPr sz="3200" spc="-180" dirty="0">
                <a:latin typeface="Arial"/>
                <a:cs typeface="Arial"/>
              </a:rPr>
              <a:t> </a:t>
            </a:r>
            <a:r>
              <a:rPr sz="3200" spc="-5" dirty="0">
                <a:latin typeface="Arial"/>
                <a:cs typeface="Arial"/>
              </a:rPr>
              <a:t>Protocol)  </a:t>
            </a:r>
            <a:r>
              <a:rPr sz="3200" dirty="0">
                <a:latin typeface="Arial"/>
                <a:cs typeface="Arial"/>
              </a:rPr>
              <a:t>UDP(User </a:t>
            </a:r>
            <a:r>
              <a:rPr sz="3200" spc="-5" dirty="0">
                <a:latin typeface="Arial"/>
                <a:cs typeface="Arial"/>
              </a:rPr>
              <a:t>Datagram Protocol)  </a:t>
            </a:r>
            <a:r>
              <a:rPr sz="3200" dirty="0">
                <a:latin typeface="Arial"/>
                <a:cs typeface="Arial"/>
              </a:rPr>
              <a:t>FTP(File </a:t>
            </a:r>
            <a:r>
              <a:rPr sz="3200" spc="-20" dirty="0">
                <a:latin typeface="Arial"/>
                <a:cs typeface="Arial"/>
              </a:rPr>
              <a:t>Transfer </a:t>
            </a:r>
            <a:r>
              <a:rPr sz="3200" spc="-5" dirty="0">
                <a:latin typeface="Arial"/>
                <a:cs typeface="Arial"/>
              </a:rPr>
              <a:t>Protocol)  </a:t>
            </a:r>
            <a:r>
              <a:rPr sz="3200" spc="-10" dirty="0">
                <a:latin typeface="Arial"/>
                <a:cs typeface="Arial"/>
              </a:rPr>
              <a:t>TCP(Transfer </a:t>
            </a:r>
            <a:r>
              <a:rPr sz="3200" spc="-5" dirty="0">
                <a:latin typeface="Arial"/>
                <a:cs typeface="Arial"/>
              </a:rPr>
              <a:t>Control Protocol)  </a:t>
            </a:r>
            <a:r>
              <a:rPr sz="3200" dirty="0">
                <a:latin typeface="Arial"/>
                <a:cs typeface="Arial"/>
              </a:rPr>
              <a:t>ARP(Address </a:t>
            </a:r>
            <a:r>
              <a:rPr sz="3200" spc="-5" dirty="0">
                <a:latin typeface="Arial"/>
                <a:cs typeface="Arial"/>
              </a:rPr>
              <a:t>Resolution</a:t>
            </a:r>
            <a:r>
              <a:rPr sz="3200" spc="-75" dirty="0">
                <a:latin typeface="Arial"/>
                <a:cs typeface="Arial"/>
              </a:rPr>
              <a:t> </a:t>
            </a:r>
            <a:r>
              <a:rPr sz="3200" spc="-5" dirty="0">
                <a:latin typeface="Arial"/>
                <a:cs typeface="Arial"/>
              </a:rPr>
              <a:t>Protocol)</a:t>
            </a:r>
            <a:endParaRPr sz="3200">
              <a:latin typeface="Arial"/>
              <a:cs typeface="Arial"/>
            </a:endParaRPr>
          </a:p>
          <a:p>
            <a:pPr marL="12700">
              <a:lnSpc>
                <a:spcPct val="100000"/>
              </a:lnSpc>
              <a:spcBef>
                <a:spcPts val="5"/>
              </a:spcBef>
            </a:pPr>
            <a:r>
              <a:rPr sz="3200" spc="-5" dirty="0">
                <a:latin typeface="Arial"/>
                <a:cs typeface="Arial"/>
              </a:rPr>
              <a:t>ICMP(Internet </a:t>
            </a:r>
            <a:r>
              <a:rPr sz="3200" dirty="0">
                <a:latin typeface="Arial"/>
                <a:cs typeface="Arial"/>
              </a:rPr>
              <a:t>Control </a:t>
            </a:r>
            <a:r>
              <a:rPr sz="3200" spc="-5" dirty="0">
                <a:latin typeface="Arial"/>
                <a:cs typeface="Arial"/>
              </a:rPr>
              <a:t>Message</a:t>
            </a:r>
            <a:r>
              <a:rPr sz="3200" spc="-80" dirty="0">
                <a:latin typeface="Arial"/>
                <a:cs typeface="Arial"/>
              </a:rPr>
              <a:t> </a:t>
            </a:r>
            <a:r>
              <a:rPr sz="3200" spc="-5" dirty="0">
                <a:latin typeface="Arial"/>
                <a:cs typeface="Arial"/>
              </a:rPr>
              <a:t>Protocol)</a:t>
            </a:r>
            <a:endParaRPr sz="32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47309" y="567309"/>
            <a:ext cx="1047750" cy="656590"/>
          </a:xfrm>
          <a:prstGeom prst="rect">
            <a:avLst/>
          </a:prstGeom>
        </p:spPr>
        <p:txBody>
          <a:bodyPr vert="horz" wrap="square" lIns="0" tIns="11430" rIns="0" bIns="0" rtlCol="0">
            <a:spAutoFit/>
          </a:bodyPr>
          <a:lstStyle/>
          <a:p>
            <a:pPr marL="12700">
              <a:lnSpc>
                <a:spcPct val="100000"/>
              </a:lnSpc>
              <a:spcBef>
                <a:spcPts val="90"/>
              </a:spcBef>
            </a:pPr>
            <a:r>
              <a:rPr spc="-15" dirty="0"/>
              <a:t>ARP</a:t>
            </a:r>
          </a:p>
        </p:txBody>
      </p:sp>
      <p:sp>
        <p:nvSpPr>
          <p:cNvPr id="3" name="object 3"/>
          <p:cNvSpPr/>
          <p:nvPr/>
        </p:nvSpPr>
        <p:spPr>
          <a:xfrm>
            <a:off x="1728470" y="2127504"/>
            <a:ext cx="152400" cy="11430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728470" y="3590798"/>
            <a:ext cx="152400" cy="11430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728470" y="5541899"/>
            <a:ext cx="152400" cy="11430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1728470" y="7493202"/>
            <a:ext cx="152400" cy="65838"/>
          </a:xfrm>
          <a:prstGeom prst="rect">
            <a:avLst/>
          </a:prstGeom>
          <a:blipFill>
            <a:blip r:embed="rId3" cstate="print"/>
            <a:stretch>
              <a:fillRect/>
            </a:stretch>
          </a:blipFill>
        </p:spPr>
        <p:txBody>
          <a:bodyPr wrap="square" lIns="0" tIns="0" rIns="0" bIns="0" rtlCol="0"/>
          <a:lstStyle/>
          <a:p>
            <a:endParaRPr/>
          </a:p>
        </p:txBody>
      </p:sp>
      <p:sp>
        <p:nvSpPr>
          <p:cNvPr id="7" name="object 7"/>
          <p:cNvSpPr txBox="1"/>
          <p:nvPr/>
        </p:nvSpPr>
        <p:spPr>
          <a:xfrm>
            <a:off x="1993900" y="1190625"/>
            <a:ext cx="7660005" cy="5430333"/>
          </a:xfrm>
          <a:prstGeom prst="rect">
            <a:avLst/>
          </a:prstGeom>
        </p:spPr>
        <p:txBody>
          <a:bodyPr vert="horz" wrap="square" lIns="0" tIns="13335" rIns="0" bIns="0" rtlCol="0">
            <a:spAutoFit/>
          </a:bodyPr>
          <a:lstStyle/>
          <a:p>
            <a:pPr marL="12700" marR="515620">
              <a:lnSpc>
                <a:spcPct val="100000"/>
              </a:lnSpc>
              <a:spcBef>
                <a:spcPts val="105"/>
              </a:spcBef>
              <a:tabLst>
                <a:tab pos="3527425" algn="l"/>
              </a:tabLst>
            </a:pPr>
            <a:r>
              <a:rPr sz="3200" dirty="0">
                <a:latin typeface="Arial"/>
                <a:cs typeface="Arial"/>
              </a:rPr>
              <a:t>Used to </a:t>
            </a:r>
            <a:r>
              <a:rPr sz="3200" b="1" spc="-5" dirty="0">
                <a:latin typeface="Arial"/>
                <a:cs typeface="Arial"/>
              </a:rPr>
              <a:t>convert </a:t>
            </a:r>
            <a:r>
              <a:rPr sz="3200" b="1" dirty="0">
                <a:latin typeface="Arial"/>
                <a:cs typeface="Arial"/>
              </a:rPr>
              <a:t>an IP </a:t>
            </a:r>
            <a:r>
              <a:rPr sz="3200" b="1" spc="-5" dirty="0">
                <a:latin typeface="Arial"/>
                <a:cs typeface="Arial"/>
              </a:rPr>
              <a:t>address </a:t>
            </a:r>
            <a:r>
              <a:rPr sz="3200" b="1" dirty="0">
                <a:latin typeface="Arial"/>
                <a:cs typeface="Arial"/>
              </a:rPr>
              <a:t>into a  </a:t>
            </a:r>
            <a:r>
              <a:rPr sz="3200" b="1" spc="-5" dirty="0">
                <a:latin typeface="Arial"/>
                <a:cs typeface="Arial"/>
              </a:rPr>
              <a:t>physical</a:t>
            </a:r>
            <a:r>
              <a:rPr sz="3200" b="1" spc="-15" dirty="0">
                <a:latin typeface="Arial"/>
                <a:cs typeface="Arial"/>
              </a:rPr>
              <a:t> </a:t>
            </a:r>
            <a:r>
              <a:rPr sz="3200" b="1" spc="-5" dirty="0">
                <a:latin typeface="Arial"/>
                <a:cs typeface="Arial"/>
              </a:rPr>
              <a:t>address	</a:t>
            </a:r>
            <a:r>
              <a:rPr sz="3200" dirty="0">
                <a:latin typeface="Arial"/>
                <a:cs typeface="Arial"/>
              </a:rPr>
              <a:t>such as an</a:t>
            </a:r>
            <a:r>
              <a:rPr sz="3200" spc="-114" dirty="0">
                <a:latin typeface="Arial"/>
                <a:cs typeface="Arial"/>
              </a:rPr>
              <a:t> </a:t>
            </a:r>
            <a:r>
              <a:rPr sz="3200" spc="-5" dirty="0">
                <a:latin typeface="Arial"/>
                <a:cs typeface="Arial"/>
              </a:rPr>
              <a:t>Ethernet  address</a:t>
            </a:r>
            <a:endParaRPr sz="3200">
              <a:latin typeface="Arial"/>
              <a:cs typeface="Arial"/>
            </a:endParaRPr>
          </a:p>
          <a:p>
            <a:pPr marL="12700" marR="851535">
              <a:lnSpc>
                <a:spcPct val="100000"/>
              </a:lnSpc>
            </a:pPr>
            <a:r>
              <a:rPr sz="3200" b="1" dirty="0">
                <a:latin typeface="Arial"/>
                <a:cs typeface="Arial"/>
              </a:rPr>
              <a:t>Used by the </a:t>
            </a:r>
            <a:r>
              <a:rPr sz="3200" b="1" spc="-5" dirty="0">
                <a:latin typeface="Arial"/>
                <a:cs typeface="Arial"/>
              </a:rPr>
              <a:t>Internet </a:t>
            </a:r>
            <a:r>
              <a:rPr sz="3200" b="1" dirty="0">
                <a:latin typeface="Arial"/>
                <a:cs typeface="Arial"/>
              </a:rPr>
              <a:t>Protocol (IP)  </a:t>
            </a:r>
            <a:r>
              <a:rPr sz="3200" dirty="0">
                <a:latin typeface="Arial"/>
                <a:cs typeface="Arial"/>
              </a:rPr>
              <a:t>specifically IPv4, to map IP network  addresses to the hardware</a:t>
            </a:r>
            <a:r>
              <a:rPr sz="3200" spc="-220" dirty="0">
                <a:latin typeface="Arial"/>
                <a:cs typeface="Arial"/>
              </a:rPr>
              <a:t> </a:t>
            </a:r>
            <a:r>
              <a:rPr sz="3200" dirty="0">
                <a:latin typeface="Arial"/>
                <a:cs typeface="Arial"/>
              </a:rPr>
              <a:t>addresses  </a:t>
            </a:r>
            <a:r>
              <a:rPr sz="3200" b="1" spc="-5" dirty="0">
                <a:latin typeface="Arial"/>
                <a:cs typeface="Arial"/>
              </a:rPr>
              <a:t>used </a:t>
            </a:r>
            <a:r>
              <a:rPr sz="3200" b="1" dirty="0">
                <a:latin typeface="Arial"/>
                <a:cs typeface="Arial"/>
              </a:rPr>
              <a:t>by a data link</a:t>
            </a:r>
            <a:r>
              <a:rPr sz="3200" b="1" spc="-125" dirty="0">
                <a:latin typeface="Arial"/>
                <a:cs typeface="Arial"/>
              </a:rPr>
              <a:t> </a:t>
            </a:r>
            <a:r>
              <a:rPr sz="3200" b="1" spc="-5" dirty="0">
                <a:latin typeface="Arial"/>
                <a:cs typeface="Arial"/>
              </a:rPr>
              <a:t>protocol.</a:t>
            </a:r>
            <a:endParaRPr sz="3200">
              <a:latin typeface="Arial"/>
              <a:cs typeface="Arial"/>
            </a:endParaRPr>
          </a:p>
          <a:p>
            <a:pPr marL="12700" marR="534035">
              <a:lnSpc>
                <a:spcPct val="100000"/>
              </a:lnSpc>
              <a:spcBef>
                <a:spcPts val="5"/>
              </a:spcBef>
            </a:pPr>
            <a:r>
              <a:rPr sz="3200" b="1" dirty="0">
                <a:latin typeface="Arial"/>
                <a:cs typeface="Arial"/>
              </a:rPr>
              <a:t>The protocol </a:t>
            </a:r>
            <a:r>
              <a:rPr sz="3200" b="1" spc="-5" dirty="0">
                <a:latin typeface="Arial"/>
                <a:cs typeface="Arial"/>
              </a:rPr>
              <a:t>operates </a:t>
            </a:r>
            <a:r>
              <a:rPr sz="3200" b="1" dirty="0">
                <a:latin typeface="Arial"/>
                <a:cs typeface="Arial"/>
              </a:rPr>
              <a:t>below the  network </a:t>
            </a:r>
            <a:r>
              <a:rPr sz="3200" b="1" spc="-5" dirty="0">
                <a:latin typeface="Arial"/>
                <a:cs typeface="Arial"/>
              </a:rPr>
              <a:t>layer </a:t>
            </a:r>
            <a:r>
              <a:rPr sz="3200" dirty="0">
                <a:latin typeface="Arial"/>
                <a:cs typeface="Arial"/>
              </a:rPr>
              <a:t>as a part of </a:t>
            </a:r>
            <a:r>
              <a:rPr sz="3200" spc="-5" dirty="0">
                <a:latin typeface="Arial"/>
                <a:cs typeface="Arial"/>
              </a:rPr>
              <a:t>the</a:t>
            </a:r>
            <a:r>
              <a:rPr sz="3200" spc="-125" dirty="0">
                <a:latin typeface="Arial"/>
                <a:cs typeface="Arial"/>
              </a:rPr>
              <a:t> </a:t>
            </a:r>
            <a:r>
              <a:rPr sz="3200" spc="-5" dirty="0">
                <a:latin typeface="Arial"/>
                <a:cs typeface="Arial"/>
              </a:rPr>
              <a:t>interface  between </a:t>
            </a:r>
            <a:r>
              <a:rPr sz="3200" dirty="0">
                <a:latin typeface="Arial"/>
                <a:cs typeface="Arial"/>
              </a:rPr>
              <a:t>the OSI network </a:t>
            </a:r>
            <a:r>
              <a:rPr sz="3200" spc="-5" dirty="0">
                <a:latin typeface="Arial"/>
                <a:cs typeface="Arial"/>
              </a:rPr>
              <a:t>and </a:t>
            </a:r>
            <a:r>
              <a:rPr sz="3200" dirty="0">
                <a:latin typeface="Arial"/>
                <a:cs typeface="Arial"/>
              </a:rPr>
              <a:t>OSI </a:t>
            </a:r>
            <a:r>
              <a:rPr sz="3200" spc="-5" dirty="0">
                <a:latin typeface="Arial"/>
                <a:cs typeface="Arial"/>
              </a:rPr>
              <a:t>link  </a:t>
            </a:r>
            <a:r>
              <a:rPr sz="3200" spc="-35">
                <a:latin typeface="Arial"/>
                <a:cs typeface="Arial"/>
              </a:rPr>
              <a:t>layer</a:t>
            </a:r>
            <a:r>
              <a:rPr sz="3200" spc="-35" smtClean="0">
                <a:latin typeface="Arial"/>
                <a:cs typeface="Arial"/>
              </a:rPr>
              <a:t>.</a:t>
            </a:r>
            <a:endParaRPr sz="32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56305" y="587756"/>
            <a:ext cx="4166235" cy="656590"/>
          </a:xfrm>
          <a:prstGeom prst="rect">
            <a:avLst/>
          </a:prstGeom>
        </p:spPr>
        <p:txBody>
          <a:bodyPr vert="horz" wrap="square" lIns="0" tIns="11430" rIns="0" bIns="0" rtlCol="0">
            <a:spAutoFit/>
          </a:bodyPr>
          <a:lstStyle/>
          <a:p>
            <a:pPr marL="12700">
              <a:lnSpc>
                <a:spcPct val="100000"/>
              </a:lnSpc>
              <a:spcBef>
                <a:spcPts val="90"/>
              </a:spcBef>
            </a:pPr>
            <a:r>
              <a:rPr spc="-10" dirty="0"/>
              <a:t>Why </a:t>
            </a:r>
            <a:r>
              <a:rPr spc="-175" dirty="0"/>
              <a:t>We </a:t>
            </a:r>
            <a:r>
              <a:rPr spc="-10" dirty="0"/>
              <a:t>Use</a:t>
            </a:r>
            <a:r>
              <a:rPr spc="-180" dirty="0"/>
              <a:t> </a:t>
            </a:r>
            <a:r>
              <a:rPr spc="-10" dirty="0"/>
              <a:t>ARP?</a:t>
            </a:r>
          </a:p>
        </p:txBody>
      </p:sp>
      <p:sp>
        <p:nvSpPr>
          <p:cNvPr id="3" name="object 3"/>
          <p:cNvSpPr/>
          <p:nvPr/>
        </p:nvSpPr>
        <p:spPr>
          <a:xfrm>
            <a:off x="612343" y="2072640"/>
            <a:ext cx="152400" cy="11430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612343" y="3048254"/>
            <a:ext cx="152400" cy="114300"/>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922731" y="1744167"/>
            <a:ext cx="8159115" cy="2465705"/>
          </a:xfrm>
          <a:prstGeom prst="rect">
            <a:avLst/>
          </a:prstGeom>
        </p:spPr>
        <p:txBody>
          <a:bodyPr vert="horz" wrap="square" lIns="0" tIns="13335" rIns="0" bIns="0" rtlCol="0">
            <a:spAutoFit/>
          </a:bodyPr>
          <a:lstStyle/>
          <a:p>
            <a:pPr marL="12700" marR="5080">
              <a:lnSpc>
                <a:spcPct val="100000"/>
              </a:lnSpc>
              <a:spcBef>
                <a:spcPts val="105"/>
              </a:spcBef>
              <a:tabLst>
                <a:tab pos="1679575" algn="l"/>
              </a:tabLst>
            </a:pPr>
            <a:r>
              <a:rPr sz="3200" dirty="0">
                <a:latin typeface="Arial"/>
                <a:cs typeface="Arial"/>
              </a:rPr>
              <a:t>Used to convert an IP </a:t>
            </a:r>
            <a:r>
              <a:rPr sz="3200" spc="-5" dirty="0">
                <a:latin typeface="Arial"/>
                <a:cs typeface="Arial"/>
              </a:rPr>
              <a:t>address into </a:t>
            </a:r>
            <a:r>
              <a:rPr sz="3200" dirty="0">
                <a:latin typeface="Arial"/>
                <a:cs typeface="Arial"/>
              </a:rPr>
              <a:t>a</a:t>
            </a:r>
            <a:r>
              <a:rPr sz="3200" spc="-235" dirty="0">
                <a:latin typeface="Arial"/>
                <a:cs typeface="Arial"/>
              </a:rPr>
              <a:t> </a:t>
            </a:r>
            <a:r>
              <a:rPr sz="3200" dirty="0">
                <a:latin typeface="Arial"/>
                <a:cs typeface="Arial"/>
              </a:rPr>
              <a:t>physical  </a:t>
            </a:r>
            <a:r>
              <a:rPr sz="3200" spc="-5" dirty="0">
                <a:latin typeface="Arial"/>
                <a:cs typeface="Arial"/>
              </a:rPr>
              <a:t>address	</a:t>
            </a:r>
            <a:r>
              <a:rPr sz="3200" dirty="0">
                <a:latin typeface="Arial"/>
                <a:cs typeface="Arial"/>
              </a:rPr>
              <a:t>such as an </a:t>
            </a:r>
            <a:r>
              <a:rPr sz="3200" spc="-5" dirty="0">
                <a:latin typeface="Arial"/>
                <a:cs typeface="Arial"/>
              </a:rPr>
              <a:t>Ethernet</a:t>
            </a:r>
            <a:r>
              <a:rPr sz="3200" spc="-100" dirty="0">
                <a:latin typeface="Arial"/>
                <a:cs typeface="Arial"/>
              </a:rPr>
              <a:t> </a:t>
            </a:r>
            <a:r>
              <a:rPr sz="3200" spc="-5" dirty="0">
                <a:latin typeface="Arial"/>
                <a:cs typeface="Arial"/>
              </a:rPr>
              <a:t>address</a:t>
            </a:r>
            <a:endParaRPr sz="3200">
              <a:latin typeface="Arial"/>
              <a:cs typeface="Arial"/>
            </a:endParaRPr>
          </a:p>
          <a:p>
            <a:pPr marL="12700" marR="314960" indent="89535">
              <a:lnSpc>
                <a:spcPct val="100000"/>
              </a:lnSpc>
            </a:pPr>
            <a:r>
              <a:rPr sz="3200" dirty="0">
                <a:latin typeface="Arial"/>
                <a:cs typeface="Arial"/>
              </a:rPr>
              <a:t>A </a:t>
            </a:r>
            <a:r>
              <a:rPr sz="3200" spc="-5" dirty="0">
                <a:latin typeface="Arial"/>
                <a:cs typeface="Arial"/>
              </a:rPr>
              <a:t>host </a:t>
            </a:r>
            <a:r>
              <a:rPr sz="3200" dirty="0">
                <a:latin typeface="Arial"/>
                <a:cs typeface="Arial"/>
              </a:rPr>
              <a:t>wishing to </a:t>
            </a:r>
            <a:r>
              <a:rPr sz="3200" spc="-5" dirty="0">
                <a:latin typeface="Arial"/>
                <a:cs typeface="Arial"/>
              </a:rPr>
              <a:t>obtain </a:t>
            </a:r>
            <a:r>
              <a:rPr sz="3200" dirty="0">
                <a:latin typeface="Arial"/>
                <a:cs typeface="Arial"/>
              </a:rPr>
              <a:t>a physical</a:t>
            </a:r>
            <a:r>
              <a:rPr sz="3200" spc="-335" dirty="0">
                <a:latin typeface="Arial"/>
                <a:cs typeface="Arial"/>
              </a:rPr>
              <a:t> </a:t>
            </a:r>
            <a:r>
              <a:rPr sz="3200" spc="-5" dirty="0">
                <a:latin typeface="Arial"/>
                <a:cs typeface="Arial"/>
              </a:rPr>
              <a:t>address  broadcasting </a:t>
            </a:r>
            <a:r>
              <a:rPr sz="3200" dirty="0">
                <a:latin typeface="Arial"/>
                <a:cs typeface="Arial"/>
              </a:rPr>
              <a:t>ARP </a:t>
            </a:r>
            <a:r>
              <a:rPr sz="3200" spc="-5" dirty="0">
                <a:latin typeface="Arial"/>
                <a:cs typeface="Arial"/>
              </a:rPr>
              <a:t>request onto the </a:t>
            </a:r>
            <a:r>
              <a:rPr sz="3200" dirty="0">
                <a:latin typeface="Arial"/>
                <a:cs typeface="Arial"/>
              </a:rPr>
              <a:t>TCP/IP  network.</a:t>
            </a:r>
            <a:endParaRPr sz="320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26107" y="822960"/>
            <a:ext cx="8173211" cy="6131052"/>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47216" y="1536192"/>
            <a:ext cx="8372856" cy="4561332"/>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72050" y="567309"/>
            <a:ext cx="1398270" cy="656590"/>
          </a:xfrm>
          <a:prstGeom prst="rect">
            <a:avLst/>
          </a:prstGeom>
        </p:spPr>
        <p:txBody>
          <a:bodyPr vert="horz" wrap="square" lIns="0" tIns="11430" rIns="0" bIns="0" rtlCol="0">
            <a:spAutoFit/>
          </a:bodyPr>
          <a:lstStyle/>
          <a:p>
            <a:pPr marL="12700">
              <a:lnSpc>
                <a:spcPct val="100000"/>
              </a:lnSpc>
              <a:spcBef>
                <a:spcPts val="90"/>
              </a:spcBef>
            </a:pPr>
            <a:r>
              <a:rPr spc="-15" dirty="0"/>
              <a:t>RARP</a:t>
            </a:r>
          </a:p>
        </p:txBody>
      </p:sp>
      <p:sp>
        <p:nvSpPr>
          <p:cNvPr id="3" name="object 3"/>
          <p:cNvSpPr/>
          <p:nvPr/>
        </p:nvSpPr>
        <p:spPr>
          <a:xfrm>
            <a:off x="612343" y="2072640"/>
            <a:ext cx="152400" cy="114300"/>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body" idx="1"/>
          </p:nvPr>
        </p:nvSpPr>
        <p:spPr>
          <a:prstGeom prst="rect">
            <a:avLst/>
          </a:prstGeom>
        </p:spPr>
        <p:txBody>
          <a:bodyPr vert="horz" wrap="square" lIns="0" tIns="13335" rIns="0" bIns="0" rtlCol="0">
            <a:spAutoFit/>
          </a:bodyPr>
          <a:lstStyle/>
          <a:p>
            <a:pPr marL="410209" marR="5080">
              <a:lnSpc>
                <a:spcPct val="100000"/>
              </a:lnSpc>
              <a:spcBef>
                <a:spcPts val="105"/>
              </a:spcBef>
            </a:pPr>
            <a:r>
              <a:rPr dirty="0"/>
              <a:t>The </a:t>
            </a:r>
            <a:r>
              <a:rPr b="1" dirty="0">
                <a:latin typeface="Arial"/>
                <a:cs typeface="Arial"/>
              </a:rPr>
              <a:t>Reverse Address Resolution Protocol  </a:t>
            </a:r>
            <a:r>
              <a:rPr dirty="0"/>
              <a:t>(RARP) </a:t>
            </a:r>
            <a:r>
              <a:rPr/>
              <a:t>is </a:t>
            </a:r>
            <a:r>
              <a:rPr lang="en-US" dirty="0" smtClean="0"/>
              <a:t>a</a:t>
            </a:r>
            <a:r>
              <a:rPr spc="-5" smtClean="0"/>
              <a:t> </a:t>
            </a:r>
            <a:r>
              <a:rPr spc="-5" dirty="0"/>
              <a:t>computer </a:t>
            </a:r>
            <a:r>
              <a:rPr dirty="0"/>
              <a:t>networking  protocol used by a </a:t>
            </a:r>
            <a:r>
              <a:rPr spc="-5" dirty="0"/>
              <a:t>client computer </a:t>
            </a:r>
            <a:r>
              <a:rPr dirty="0"/>
              <a:t>to </a:t>
            </a:r>
            <a:r>
              <a:rPr spc="-5" dirty="0"/>
              <a:t>request</a:t>
            </a:r>
            <a:r>
              <a:rPr spc="-160" dirty="0"/>
              <a:t> </a:t>
            </a:r>
            <a:r>
              <a:rPr dirty="0"/>
              <a:t>its  </a:t>
            </a:r>
            <a:r>
              <a:rPr spc="-5" dirty="0"/>
              <a:t>Internet </a:t>
            </a:r>
            <a:r>
              <a:rPr dirty="0"/>
              <a:t>Protocol (IPv4) </a:t>
            </a:r>
            <a:r>
              <a:rPr spc="-5" dirty="0"/>
              <a:t>address </a:t>
            </a:r>
            <a:r>
              <a:rPr dirty="0"/>
              <a:t>from a  </a:t>
            </a:r>
            <a:r>
              <a:rPr spc="-5" dirty="0"/>
              <a:t>computer</a:t>
            </a:r>
            <a:r>
              <a:rPr spc="-30" dirty="0"/>
              <a:t> </a:t>
            </a:r>
            <a:r>
              <a:rPr dirty="0"/>
              <a:t>network.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7377" y="567309"/>
            <a:ext cx="4545965" cy="656590"/>
          </a:xfrm>
          <a:prstGeom prst="rect">
            <a:avLst/>
          </a:prstGeom>
        </p:spPr>
        <p:txBody>
          <a:bodyPr vert="horz" wrap="square" lIns="0" tIns="11430" rIns="0" bIns="0" rtlCol="0">
            <a:spAutoFit/>
          </a:bodyPr>
          <a:lstStyle/>
          <a:p>
            <a:pPr marL="12700">
              <a:lnSpc>
                <a:spcPct val="100000"/>
              </a:lnSpc>
              <a:spcBef>
                <a:spcPts val="90"/>
              </a:spcBef>
            </a:pPr>
            <a:r>
              <a:rPr spc="-10" dirty="0"/>
              <a:t>Why </a:t>
            </a:r>
            <a:r>
              <a:rPr spc="-175" dirty="0"/>
              <a:t>We </a:t>
            </a:r>
            <a:r>
              <a:rPr spc="-10" dirty="0"/>
              <a:t>Use</a:t>
            </a:r>
            <a:r>
              <a:rPr spc="55" dirty="0"/>
              <a:t> </a:t>
            </a:r>
            <a:r>
              <a:rPr spc="-10" dirty="0"/>
              <a:t>RARP?</a:t>
            </a:r>
          </a:p>
        </p:txBody>
      </p:sp>
      <p:sp>
        <p:nvSpPr>
          <p:cNvPr id="3" name="object 3"/>
          <p:cNvSpPr/>
          <p:nvPr/>
        </p:nvSpPr>
        <p:spPr>
          <a:xfrm>
            <a:off x="612343" y="2072640"/>
            <a:ext cx="152400" cy="11430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612343" y="4023995"/>
            <a:ext cx="152400" cy="114300"/>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922731" y="1744167"/>
            <a:ext cx="8662035" cy="1983235"/>
          </a:xfrm>
          <a:prstGeom prst="rect">
            <a:avLst/>
          </a:prstGeom>
        </p:spPr>
        <p:txBody>
          <a:bodyPr vert="horz" wrap="square" lIns="0" tIns="13335" rIns="0" bIns="0" rtlCol="0">
            <a:spAutoFit/>
          </a:bodyPr>
          <a:lstStyle/>
          <a:p>
            <a:pPr marL="12700" marR="5080">
              <a:lnSpc>
                <a:spcPct val="100000"/>
              </a:lnSpc>
              <a:spcBef>
                <a:spcPts val="105"/>
              </a:spcBef>
            </a:pPr>
            <a:r>
              <a:rPr sz="3200" dirty="0">
                <a:latin typeface="Arial"/>
                <a:cs typeface="Arial"/>
              </a:rPr>
              <a:t>Reverse Address </a:t>
            </a:r>
            <a:r>
              <a:rPr sz="3200" spc="-5" dirty="0">
                <a:latin typeface="Arial"/>
                <a:cs typeface="Arial"/>
              </a:rPr>
              <a:t>Resolution </a:t>
            </a:r>
            <a:r>
              <a:rPr sz="3200" dirty="0">
                <a:latin typeface="Arial"/>
                <a:cs typeface="Arial"/>
              </a:rPr>
              <a:t>Protocol (RARP)</a:t>
            </a:r>
            <a:r>
              <a:rPr sz="3200" spc="-360" dirty="0">
                <a:latin typeface="Arial"/>
                <a:cs typeface="Arial"/>
              </a:rPr>
              <a:t> </a:t>
            </a:r>
            <a:r>
              <a:rPr sz="3200" dirty="0">
                <a:latin typeface="Arial"/>
                <a:cs typeface="Arial"/>
              </a:rPr>
              <a:t>is  a </a:t>
            </a:r>
            <a:r>
              <a:rPr sz="3200" b="1" dirty="0">
                <a:latin typeface="Arial"/>
                <a:cs typeface="Arial"/>
              </a:rPr>
              <a:t>network </a:t>
            </a:r>
            <a:r>
              <a:rPr sz="3200" b="1" spc="-5" dirty="0">
                <a:latin typeface="Arial"/>
                <a:cs typeface="Arial"/>
              </a:rPr>
              <a:t>layer </a:t>
            </a:r>
            <a:r>
              <a:rPr sz="3200" b="1" dirty="0">
                <a:latin typeface="Arial"/>
                <a:cs typeface="Arial"/>
              </a:rPr>
              <a:t>protocol </a:t>
            </a:r>
            <a:r>
              <a:rPr sz="3200" dirty="0">
                <a:latin typeface="Arial"/>
                <a:cs typeface="Arial"/>
              </a:rPr>
              <a:t>used to resolve an</a:t>
            </a:r>
            <a:r>
              <a:rPr sz="3200" spc="-254" dirty="0">
                <a:latin typeface="Arial"/>
                <a:cs typeface="Arial"/>
              </a:rPr>
              <a:t> </a:t>
            </a:r>
            <a:r>
              <a:rPr sz="3200" dirty="0">
                <a:latin typeface="Arial"/>
                <a:cs typeface="Arial"/>
              </a:rPr>
              <a:t>IP  </a:t>
            </a:r>
            <a:r>
              <a:rPr sz="3200" spc="-5" dirty="0">
                <a:latin typeface="Arial"/>
                <a:cs typeface="Arial"/>
              </a:rPr>
              <a:t>address </a:t>
            </a:r>
            <a:r>
              <a:rPr sz="3200" dirty="0">
                <a:latin typeface="Arial"/>
                <a:cs typeface="Arial"/>
              </a:rPr>
              <a:t>from a </a:t>
            </a:r>
            <a:r>
              <a:rPr sz="3200" spc="-5" dirty="0">
                <a:latin typeface="Arial"/>
                <a:cs typeface="Arial"/>
              </a:rPr>
              <a:t>given </a:t>
            </a:r>
            <a:r>
              <a:rPr sz="3200" dirty="0">
                <a:latin typeface="Arial"/>
                <a:cs typeface="Arial"/>
              </a:rPr>
              <a:t>hardware </a:t>
            </a:r>
            <a:r>
              <a:rPr sz="3200" spc="-5" dirty="0">
                <a:latin typeface="Arial"/>
                <a:cs typeface="Arial"/>
              </a:rPr>
              <a:t>address </a:t>
            </a:r>
            <a:r>
              <a:rPr sz="3200" dirty="0">
                <a:latin typeface="Arial"/>
                <a:cs typeface="Arial"/>
              </a:rPr>
              <a:t>(such  as an </a:t>
            </a:r>
            <a:r>
              <a:rPr sz="3200" spc="-5" dirty="0">
                <a:latin typeface="Arial"/>
                <a:cs typeface="Arial"/>
              </a:rPr>
              <a:t>Ethernet</a:t>
            </a:r>
            <a:r>
              <a:rPr sz="3200" spc="-75" dirty="0">
                <a:latin typeface="Arial"/>
                <a:cs typeface="Arial"/>
              </a:rPr>
              <a:t> </a:t>
            </a:r>
            <a:r>
              <a:rPr sz="3200">
                <a:latin typeface="Arial"/>
                <a:cs typeface="Arial"/>
              </a:rPr>
              <a:t>address</a:t>
            </a:r>
            <a:r>
              <a:rPr sz="3200" smtClean="0">
                <a:latin typeface="Arial"/>
                <a:cs typeface="Arial"/>
              </a:rPr>
              <a:t>).</a:t>
            </a:r>
            <a:endParaRPr sz="320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37844" y="0"/>
            <a:ext cx="8092440" cy="607618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3939" y="548640"/>
            <a:ext cx="8282940" cy="6211824"/>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6300" y="885825"/>
            <a:ext cx="7162800" cy="2677656"/>
          </a:xfrm>
          <a:prstGeom prst="rect">
            <a:avLst/>
          </a:prstGeom>
          <a:noFill/>
        </p:spPr>
        <p:txBody>
          <a:bodyPr wrap="square" rtlCol="0">
            <a:spAutoFit/>
          </a:bodyPr>
          <a:lstStyle/>
          <a:p>
            <a:pPr fontAlgn="base"/>
            <a:r>
              <a:rPr lang="en-US" sz="2400" b="1" dirty="0" smtClean="0"/>
              <a:t>Internet Control Message Protocol (ICMP)</a:t>
            </a:r>
          </a:p>
          <a:p>
            <a:pPr fontAlgn="base"/>
            <a:r>
              <a:rPr lang="en-US" dirty="0" smtClean="0"/>
              <a:t>Since IP does not have a inbuilt mechanism for sending error and control messages. It depends on Internet Control Message Protocol(ICMP) to provide an error control. It is used for reporting errors and management queries. It is a supporting protocol and used by networks devices like routers for sending the error messages and operations information.</a:t>
            </a:r>
            <a:br>
              <a:rPr lang="en-US" dirty="0" smtClean="0"/>
            </a:br>
            <a:r>
              <a:rPr lang="en-US" dirty="0" smtClean="0"/>
              <a:t>e.g. the requested service is not available or that a host or router could not be reached.</a:t>
            </a:r>
          </a:p>
          <a:p>
            <a:endParaRPr lang="en-US" dirty="0"/>
          </a:p>
        </p:txBody>
      </p:sp>
      <p:pic>
        <p:nvPicPr>
          <p:cNvPr id="1026" name="Picture 2" descr="https://media.geeksforgeeks.org/wp-content/uploads/1-73.png"/>
          <p:cNvPicPr>
            <a:picLocks noChangeAspect="1" noChangeArrowheads="1"/>
          </p:cNvPicPr>
          <p:nvPr/>
        </p:nvPicPr>
        <p:blipFill>
          <a:blip r:embed="rId2"/>
          <a:srcRect/>
          <a:stretch>
            <a:fillRect/>
          </a:stretch>
        </p:blipFill>
        <p:spPr bwMode="auto">
          <a:xfrm>
            <a:off x="2146300" y="3752850"/>
            <a:ext cx="7327900" cy="38100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372867" y="1822704"/>
            <a:ext cx="6592824" cy="438454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TotalTime>
  <Words>233</Words>
  <Application>Microsoft Office PowerPoint</Application>
  <PresentationFormat>Custom</PresentationFormat>
  <Paragraphs>23</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ARP &amp; RARP Protocols</vt:lpstr>
      <vt:lpstr>What is a Protocol?</vt:lpstr>
      <vt:lpstr>Different Protocols Used over Internet</vt:lpstr>
      <vt:lpstr>ARP</vt:lpstr>
      <vt:lpstr>Why We Use ARP?</vt:lpstr>
      <vt:lpstr>Slide 6</vt:lpstr>
      <vt:lpstr>Slide 7</vt:lpstr>
      <vt:lpstr>RARP</vt:lpstr>
      <vt:lpstr>Why We Use RARP?</vt:lpstr>
      <vt:lpstr>Slide 10</vt:lpstr>
      <vt:lpstr>Slide 11</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ARP &amp; RARP Protocols</dc:title>
  <dc:creator>Dell</dc:creator>
  <cp:lastModifiedBy>Dell</cp:lastModifiedBy>
  <cp:revision>3</cp:revision>
  <dcterms:created xsi:type="dcterms:W3CDTF">2020-04-18T17:52:18Z</dcterms:created>
  <dcterms:modified xsi:type="dcterms:W3CDTF">2020-04-19T05:48:56Z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2017-03-21T00:00:00Z</vt:filetime>
  </property>
  <property fmtid="{D5CDD505-2E9C-101B-9397-08002B2CF9AE}" pid="3" name="Creator">
    <vt:lpwstr>Microsoft® PowerPoint® 2013</vt:lpwstr>
  </property>
  <property fmtid="{D5CDD505-2E9C-101B-9397-08002B2CF9AE}" pid="4" name="LastSaved">
    <vt:filetime>2020-04-18T00:00:00Z</vt:filetime>
  </property>
</Properties>
</file>