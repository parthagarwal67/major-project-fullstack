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74901" y="2146173"/>
            <a:ext cx="5394197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8529" y="461899"/>
            <a:ext cx="21869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07261"/>
            <a:ext cx="8072119" cy="275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81200" y="1752600"/>
            <a:ext cx="552831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40" dirty="0">
                <a:solidFill>
                  <a:srgbClr val="FF0000"/>
                </a:solidFill>
                <a:latin typeface="Carlito"/>
                <a:cs typeface="Carlito"/>
              </a:rPr>
              <a:t>DISTANCE </a:t>
            </a:r>
            <a:r>
              <a:rPr sz="3200" spc="-25">
                <a:solidFill>
                  <a:srgbClr val="FF0000"/>
                </a:solidFill>
                <a:latin typeface="Carlito"/>
                <a:cs typeface="Carlito"/>
              </a:rPr>
              <a:t>VECTOR </a:t>
            </a:r>
            <a:r>
              <a:rPr sz="3200" spc="-10" smtClean="0">
                <a:solidFill>
                  <a:srgbClr val="FF0000"/>
                </a:solidFill>
                <a:latin typeface="Carlito"/>
                <a:cs typeface="Carlito"/>
              </a:rPr>
              <a:t>ROUTING</a:t>
            </a:r>
            <a:r>
              <a:rPr lang="en-US" sz="3200" spc="-10" dirty="0" smtClean="0">
                <a:solidFill>
                  <a:srgbClr val="FF0000"/>
                </a:solidFill>
                <a:latin typeface="Carlito"/>
                <a:cs typeface="Carlito"/>
              </a:rPr>
              <a:t> ALGORITHM</a:t>
            </a:r>
            <a:r>
              <a:rPr sz="3200" spc="65" smtClean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Carlito"/>
                <a:cs typeface="Carlito"/>
              </a:rPr>
              <a:t>(DV)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0" y="457200"/>
            <a:ext cx="393344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8072755" cy="46301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rlito"/>
                <a:cs typeface="Carlito"/>
              </a:rPr>
              <a:t>Distance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5" dirty="0">
                <a:latin typeface="Carlito"/>
                <a:cs typeface="Carlito"/>
              </a:rPr>
              <a:t>measure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b="1" dirty="0">
                <a:latin typeface="Carlito"/>
                <a:cs typeface="Carlito"/>
              </a:rPr>
              <a:t>number of </a:t>
            </a:r>
            <a:r>
              <a:rPr sz="3200" b="1" spc="-5">
                <a:latin typeface="Carlito"/>
                <a:cs typeface="Carlito"/>
              </a:rPr>
              <a:t>Hops </a:t>
            </a:r>
            <a:r>
              <a:rPr sz="3200" smtClean="0">
                <a:latin typeface="Carlito"/>
                <a:cs typeface="Carlito"/>
              </a:rPr>
              <a:t>the</a:t>
            </a:r>
            <a:r>
              <a:rPr lang="en-US" sz="3200" dirty="0" smtClean="0">
                <a:latin typeface="Carlito"/>
                <a:cs typeface="Carlito"/>
              </a:rPr>
              <a:t> </a:t>
            </a:r>
            <a:r>
              <a:rPr sz="3200" spc="-30" smtClean="0">
                <a:latin typeface="Carlito"/>
                <a:cs typeface="Carlito"/>
              </a:rPr>
              <a:t>Packet </a:t>
            </a:r>
            <a:r>
              <a:rPr sz="3200" spc="-10" dirty="0">
                <a:latin typeface="Carlito"/>
                <a:cs typeface="Carlito"/>
              </a:rPr>
              <a:t>requires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reach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Destination.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</a:pPr>
            <a:r>
              <a:rPr sz="3200" spc="-15" dirty="0">
                <a:latin typeface="Carlito"/>
                <a:cs typeface="Carlito"/>
              </a:rPr>
              <a:t>Here </a:t>
            </a:r>
            <a:r>
              <a:rPr sz="3200" spc="-40" dirty="0">
                <a:latin typeface="Carlito"/>
                <a:cs typeface="Carlito"/>
              </a:rPr>
              <a:t>Vector </a:t>
            </a:r>
            <a:r>
              <a:rPr sz="3200" spc="-5" dirty="0">
                <a:latin typeface="Carlito"/>
                <a:cs typeface="Carlito"/>
              </a:rPr>
              <a:t>is </a:t>
            </a:r>
            <a:r>
              <a:rPr sz="3200" spc="-10" dirty="0">
                <a:latin typeface="Carlito"/>
                <a:cs typeface="Carlito"/>
              </a:rPr>
              <a:t>defined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10" dirty="0">
                <a:latin typeface="Carlito"/>
                <a:cs typeface="Carlito"/>
              </a:rPr>
              <a:t>(Distance, Direction)  </a:t>
            </a:r>
            <a:r>
              <a:rPr sz="3200" b="1" spc="-15" dirty="0">
                <a:latin typeface="Carlito"/>
                <a:cs typeface="Carlito"/>
              </a:rPr>
              <a:t>next </a:t>
            </a:r>
            <a:r>
              <a:rPr sz="3200" b="1" dirty="0">
                <a:latin typeface="Carlito"/>
                <a:cs typeface="Carlito"/>
              </a:rPr>
              <a:t>Hop </a:t>
            </a:r>
            <a:r>
              <a:rPr sz="3200" b="1" spc="-15" dirty="0">
                <a:latin typeface="Carlito"/>
                <a:cs typeface="Carlito"/>
              </a:rPr>
              <a:t>router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which the </a:t>
            </a:r>
            <a:r>
              <a:rPr sz="3200" spc="-20" dirty="0">
                <a:latin typeface="Carlito"/>
                <a:cs typeface="Carlito"/>
              </a:rPr>
              <a:t>packet </a:t>
            </a:r>
            <a:r>
              <a:rPr sz="3200" spc="-5" dirty="0">
                <a:latin typeface="Carlito"/>
                <a:cs typeface="Carlito"/>
              </a:rPr>
              <a:t>is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>
                <a:latin typeface="Carlito"/>
                <a:cs typeface="Carlito"/>
              </a:rPr>
              <a:t>be  </a:t>
            </a:r>
            <a:r>
              <a:rPr sz="3200" spc="-20" smtClean="0">
                <a:latin typeface="Carlito"/>
                <a:cs typeface="Carlito"/>
              </a:rPr>
              <a:t>forwarded.</a:t>
            </a:r>
            <a:endParaRPr lang="en-US" sz="3200" spc="-20" dirty="0" smtClean="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</a:pPr>
            <a:r>
              <a:rPr sz="3200" spc="-5" smtClean="0">
                <a:latin typeface="Carlito"/>
                <a:cs typeface="Carlito"/>
              </a:rPr>
              <a:t>It </a:t>
            </a:r>
            <a:r>
              <a:rPr sz="3200" spc="-5" dirty="0">
                <a:latin typeface="Carlito"/>
                <a:cs typeface="Carlito"/>
              </a:rPr>
              <a:t>is </a:t>
            </a:r>
            <a:r>
              <a:rPr sz="3200" dirty="0">
                <a:latin typeface="Carlito"/>
                <a:cs typeface="Carlito"/>
              </a:rPr>
              <a:t>also </a:t>
            </a:r>
            <a:r>
              <a:rPr sz="3200" spc="-5" dirty="0">
                <a:latin typeface="Carlito"/>
                <a:cs typeface="Carlito"/>
              </a:rPr>
              <a:t>known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b="1" dirty="0">
                <a:latin typeface="Carlito"/>
                <a:cs typeface="Carlito"/>
              </a:rPr>
              <a:t>Bellman </a:t>
            </a:r>
            <a:r>
              <a:rPr sz="3200" b="1" spc="-15" dirty="0">
                <a:latin typeface="Carlito"/>
                <a:cs typeface="Carlito"/>
              </a:rPr>
              <a:t>Ford</a:t>
            </a:r>
            <a:r>
              <a:rPr sz="3200" b="1" spc="-25" dirty="0">
                <a:latin typeface="Carlito"/>
                <a:cs typeface="Carlito"/>
              </a:rPr>
              <a:t> </a:t>
            </a:r>
            <a:r>
              <a:rPr sz="3200" b="1" spc="-5" dirty="0">
                <a:latin typeface="Carlito"/>
                <a:cs typeface="Carlito"/>
              </a:rPr>
              <a:t>Algorithm</a:t>
            </a:r>
            <a:r>
              <a:rPr sz="3200" spc="-5" dirty="0">
                <a:latin typeface="Carlito"/>
                <a:cs typeface="Carlito"/>
              </a:rPr>
              <a:t>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461899"/>
            <a:ext cx="4141469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143000"/>
            <a:ext cx="7175319" cy="541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461899"/>
            <a:ext cx="435127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EXPLANATION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8074025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rlito"/>
                <a:cs typeface="Carlito"/>
              </a:rPr>
              <a:t>In </a:t>
            </a:r>
            <a:r>
              <a:rPr sz="3200" spc="-10" dirty="0">
                <a:latin typeface="Carlito"/>
                <a:cs typeface="Carlito"/>
              </a:rPr>
              <a:t>Distance </a:t>
            </a:r>
            <a:r>
              <a:rPr sz="3200" spc="-35" dirty="0">
                <a:latin typeface="Carlito"/>
                <a:cs typeface="Carlito"/>
              </a:rPr>
              <a:t>Vector </a:t>
            </a:r>
            <a:r>
              <a:rPr sz="3200" spc="-10" dirty="0">
                <a:latin typeface="Carlito"/>
                <a:cs typeface="Carlito"/>
              </a:rPr>
              <a:t>Routing </a:t>
            </a:r>
            <a:r>
              <a:rPr sz="3200" spc="-15" dirty="0">
                <a:latin typeface="Carlito"/>
                <a:cs typeface="Carlito"/>
              </a:rPr>
              <a:t>Protocol,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node  </a:t>
            </a:r>
            <a:r>
              <a:rPr sz="3200" spc="-10" dirty="0">
                <a:latin typeface="Carlito"/>
                <a:cs typeface="Carlito"/>
              </a:rPr>
              <a:t>shares </a:t>
            </a:r>
            <a:r>
              <a:rPr sz="3200" dirty="0">
                <a:latin typeface="Carlito"/>
                <a:cs typeface="Carlito"/>
              </a:rPr>
              <a:t>its </a:t>
            </a:r>
            <a:r>
              <a:rPr sz="3200" spc="-20" dirty="0">
                <a:latin typeface="Carlito"/>
                <a:cs typeface="Carlito"/>
              </a:rPr>
              <a:t>routes </a:t>
            </a:r>
            <a:r>
              <a:rPr sz="3200" spc="-5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network </a:t>
            </a:r>
            <a:r>
              <a:rPr sz="3200" b="1" dirty="0">
                <a:latin typeface="Carlito"/>
                <a:cs typeface="Carlito"/>
              </a:rPr>
              <a:t>only </a:t>
            </a:r>
            <a:r>
              <a:rPr sz="3200" b="1" spc="-20" dirty="0">
                <a:latin typeface="Carlito"/>
                <a:cs typeface="Carlito"/>
              </a:rPr>
              <a:t>to </a:t>
            </a:r>
            <a:r>
              <a:rPr sz="3200" b="1" dirty="0">
                <a:latin typeface="Carlito"/>
                <a:cs typeface="Carlito"/>
              </a:rPr>
              <a:t>the  </a:t>
            </a:r>
            <a:r>
              <a:rPr sz="3200" b="1" spc="-5" dirty="0">
                <a:latin typeface="Carlito"/>
                <a:cs typeface="Carlito"/>
              </a:rPr>
              <a:t>neighbors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does not </a:t>
            </a:r>
            <a:r>
              <a:rPr sz="3200" spc="-15" dirty="0">
                <a:latin typeface="Carlito"/>
                <a:cs typeface="Carlito"/>
              </a:rPr>
              <a:t>broadcast </a:t>
            </a:r>
            <a:r>
              <a:rPr sz="3200" spc="-5" dirty="0">
                <a:latin typeface="Carlito"/>
                <a:cs typeface="Carlito"/>
              </a:rPr>
              <a:t>it. (not </a:t>
            </a:r>
            <a:r>
              <a:rPr sz="3200" spc="-25" dirty="0">
                <a:latin typeface="Carlito"/>
                <a:cs typeface="Carlito"/>
              </a:rPr>
              <a:t>to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all)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400">
              <a:latin typeface="Carlito"/>
              <a:cs typeface="Carlito"/>
            </a:endParaRPr>
          </a:p>
          <a:p>
            <a:pPr marL="12700" marR="7620" algn="just">
              <a:lnSpc>
                <a:spcPct val="100000"/>
              </a:lnSpc>
            </a:pPr>
            <a:r>
              <a:rPr sz="3200" spc="-5" dirty="0">
                <a:latin typeface="Carlito"/>
                <a:cs typeface="Carlito"/>
              </a:rPr>
              <a:t>Whenever </a:t>
            </a:r>
            <a:r>
              <a:rPr sz="3200" spc="-20" dirty="0">
                <a:latin typeface="Carlito"/>
                <a:cs typeface="Carlito"/>
              </a:rPr>
              <a:t>any </a:t>
            </a:r>
            <a:r>
              <a:rPr sz="3200" spc="-5" dirty="0">
                <a:latin typeface="Carlito"/>
                <a:cs typeface="Carlito"/>
              </a:rPr>
              <a:t>node </a:t>
            </a:r>
            <a:r>
              <a:rPr sz="3200" spc="-15" dirty="0">
                <a:latin typeface="Carlito"/>
                <a:cs typeface="Carlito"/>
              </a:rPr>
              <a:t>receives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Routing  Information </a:t>
            </a:r>
            <a:r>
              <a:rPr sz="3200" spc="-5" dirty="0">
                <a:latin typeface="Carlito"/>
                <a:cs typeface="Carlito"/>
              </a:rPr>
              <a:t>it updates its </a:t>
            </a:r>
            <a:r>
              <a:rPr sz="3200" dirty="0">
                <a:latin typeface="Carlito"/>
                <a:cs typeface="Carlito"/>
              </a:rPr>
              <a:t>own </a:t>
            </a:r>
            <a:r>
              <a:rPr sz="3200" spc="-10" dirty="0">
                <a:latin typeface="Carlito"/>
                <a:cs typeface="Carlito"/>
              </a:rPr>
              <a:t>routing table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20" dirty="0">
                <a:latin typeface="Carlito"/>
                <a:cs typeface="Carlito"/>
              </a:rPr>
              <a:t>inform to </a:t>
            </a:r>
            <a:r>
              <a:rPr sz="3200" spc="-5" dirty="0">
                <a:latin typeface="Carlito"/>
                <a:cs typeface="Carlito"/>
              </a:rPr>
              <a:t>its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neighbors.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461899"/>
            <a:ext cx="597839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WORKING</a:t>
            </a:r>
            <a:r>
              <a:rPr spc="-90" dirty="0"/>
              <a:t> </a:t>
            </a:r>
            <a:r>
              <a:rPr dirty="0"/>
              <a:t>PRINCIPLE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7846059" cy="26603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899794" indent="-515620">
              <a:lnSpc>
                <a:spcPct val="100000"/>
              </a:lnSpc>
              <a:spcBef>
                <a:spcPts val="105"/>
              </a:spcBef>
              <a:buAutoNum type="arabicParenR"/>
              <a:tabLst>
                <a:tab pos="527685" algn="l"/>
                <a:tab pos="528320" algn="l"/>
              </a:tabLst>
            </a:pPr>
            <a:r>
              <a:rPr sz="3200" spc="-20" dirty="0">
                <a:latin typeface="Carlito"/>
                <a:cs typeface="Carlito"/>
              </a:rPr>
              <a:t>Firstly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node </a:t>
            </a:r>
            <a:r>
              <a:rPr sz="3200" spc="-20" dirty="0">
                <a:latin typeface="Carlito"/>
                <a:cs typeface="Carlito"/>
              </a:rPr>
              <a:t>enters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cost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the  </a:t>
            </a:r>
            <a:r>
              <a:rPr sz="3200" spc="-5" dirty="0">
                <a:latin typeface="Carlito"/>
                <a:cs typeface="Carlito"/>
              </a:rPr>
              <a:t>neighboring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node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rlito"/>
              <a:buAutoNum type="arabicParenR"/>
            </a:pPr>
            <a:endParaRPr sz="4400">
              <a:latin typeface="Carlito"/>
              <a:cs typeface="Carlito"/>
            </a:endParaRPr>
          </a:p>
          <a:p>
            <a:pPr marL="527685" marR="5080" indent="-515620">
              <a:lnSpc>
                <a:spcPct val="100000"/>
              </a:lnSpc>
              <a:spcBef>
                <a:spcPts val="5"/>
              </a:spcBef>
              <a:buFont typeface="Carlito"/>
              <a:buAutoNum type="arabicParenR"/>
              <a:tabLst>
                <a:tab pos="619125" algn="l"/>
                <a:tab pos="619760" algn="l"/>
              </a:tabLst>
            </a:pPr>
            <a:r>
              <a:rPr dirty="0"/>
              <a:t>	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link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down (not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direct </a:t>
            </a:r>
            <a:r>
              <a:rPr sz="3200" dirty="0">
                <a:latin typeface="Carlito"/>
                <a:cs typeface="Carlito"/>
              </a:rPr>
              <a:t>neighbor) is  </a:t>
            </a:r>
            <a:r>
              <a:rPr sz="3200" spc="-5" dirty="0">
                <a:latin typeface="Carlito"/>
                <a:cs typeface="Carlito"/>
              </a:rPr>
              <a:t>assigned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20">
                <a:latin typeface="Carlito"/>
                <a:cs typeface="Carlito"/>
              </a:rPr>
              <a:t>cost </a:t>
            </a:r>
            <a:r>
              <a:rPr sz="3200" spc="-25" smtClean="0">
                <a:latin typeface="Carlito"/>
                <a:cs typeface="Carlito"/>
              </a:rPr>
              <a:t>to</a:t>
            </a:r>
            <a:r>
              <a:rPr sz="3200" spc="70" smtClean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Infinity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61899"/>
            <a:ext cx="605459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WORKING</a:t>
            </a:r>
            <a:r>
              <a:rPr spc="-90" dirty="0"/>
              <a:t> </a:t>
            </a:r>
            <a:r>
              <a:rPr dirty="0"/>
              <a:t>PRINCIPLE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8073390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  <a:buAutoNum type="arabicParenR" startAt="3"/>
              <a:tabLst>
                <a:tab pos="554355" algn="l"/>
              </a:tabLst>
            </a:pPr>
            <a:r>
              <a:rPr sz="3200" spc="-25" dirty="0">
                <a:latin typeface="Carlito"/>
                <a:cs typeface="Carlito"/>
              </a:rPr>
              <a:t>Every </a:t>
            </a:r>
            <a:r>
              <a:rPr sz="3200" spc="-5" dirty="0">
                <a:latin typeface="Carlito"/>
                <a:cs typeface="Carlito"/>
              </a:rPr>
              <a:t>node that sends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message </a:t>
            </a:r>
            <a:r>
              <a:rPr sz="3200" spc="-10" dirty="0">
                <a:latin typeface="Carlito"/>
                <a:cs typeface="Carlito"/>
              </a:rPr>
              <a:t>directly  </a:t>
            </a:r>
            <a:r>
              <a:rPr sz="3200" spc="-15" dirty="0">
                <a:latin typeface="Carlito"/>
                <a:cs typeface="Carlito"/>
              </a:rPr>
              <a:t>connected</a:t>
            </a:r>
            <a:r>
              <a:rPr sz="3200" spc="69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5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adjacent node </a:t>
            </a:r>
            <a:r>
              <a:rPr sz="3200" dirty="0">
                <a:latin typeface="Carlito"/>
                <a:cs typeface="Carlito"/>
              </a:rPr>
              <a:t>about the  </a:t>
            </a:r>
            <a:r>
              <a:rPr sz="3200" spc="-5" dirty="0">
                <a:latin typeface="Carlito"/>
                <a:cs typeface="Carlito"/>
              </a:rPr>
              <a:t>adjacent </a:t>
            </a:r>
            <a:r>
              <a:rPr sz="3200" spc="-10" dirty="0">
                <a:latin typeface="Carlito"/>
                <a:cs typeface="Carlito"/>
              </a:rPr>
              <a:t>neighbors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their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cost.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400">
              <a:latin typeface="Carlito"/>
              <a:cs typeface="Carlito"/>
            </a:endParaRPr>
          </a:p>
          <a:p>
            <a:pPr marL="12700" marR="5080" algn="just">
              <a:lnSpc>
                <a:spcPct val="100000"/>
              </a:lnSpc>
              <a:tabLst>
                <a:tab pos="711200" algn="l"/>
              </a:tabLst>
            </a:pPr>
            <a:r>
              <a:rPr lang="en-US" sz="3200" spc="-10" dirty="0" smtClean="0">
                <a:latin typeface="Carlito"/>
                <a:cs typeface="Carlito"/>
              </a:rPr>
              <a:t>4) </a:t>
            </a:r>
            <a:r>
              <a:rPr sz="3200" spc="-10" smtClean="0">
                <a:latin typeface="Carlito"/>
                <a:cs typeface="Carlito"/>
              </a:rPr>
              <a:t>After </a:t>
            </a:r>
            <a:r>
              <a:rPr sz="3200" spc="-15" dirty="0">
                <a:latin typeface="Carlito"/>
                <a:cs typeface="Carlito"/>
              </a:rPr>
              <a:t>exchanging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nodes </a:t>
            </a:r>
            <a:r>
              <a:rPr sz="3200" spc="-15" dirty="0">
                <a:latin typeface="Carlito"/>
                <a:cs typeface="Carlito"/>
              </a:rPr>
              <a:t>information </a:t>
            </a:r>
            <a:r>
              <a:rPr sz="3200" spc="5" dirty="0">
                <a:latin typeface="Carlito"/>
                <a:cs typeface="Carlito"/>
              </a:rPr>
              <a:t>it  </a:t>
            </a:r>
            <a:r>
              <a:rPr sz="3200" dirty="0">
                <a:latin typeface="Carlito"/>
                <a:cs typeface="Carlito"/>
              </a:rPr>
              <a:t>will find the </a:t>
            </a:r>
            <a:r>
              <a:rPr sz="3200" spc="-10" dirty="0">
                <a:latin typeface="Carlito"/>
                <a:cs typeface="Carlito"/>
              </a:rPr>
              <a:t>least </a:t>
            </a:r>
            <a:r>
              <a:rPr sz="3200" spc="-20" dirty="0">
                <a:latin typeface="Carlito"/>
                <a:cs typeface="Carlito"/>
              </a:rPr>
              <a:t>cost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reach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other nodes  </a:t>
            </a:r>
            <a:r>
              <a:rPr sz="3200" spc="-15" dirty="0">
                <a:latin typeface="Carlito"/>
                <a:cs typeface="Carlito"/>
              </a:rPr>
              <a:t>information.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159</Words>
  <Application>Microsoft Office PowerPoint</Application>
  <PresentationFormat>On-screen Show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DEFINITION</vt:lpstr>
      <vt:lpstr>EXAMPLE</vt:lpstr>
      <vt:lpstr>EXPLANATION</vt:lpstr>
      <vt:lpstr>WORKING PRINCIPLE</vt:lpstr>
      <vt:lpstr>WORKING PRINCIPLE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Dell</cp:lastModifiedBy>
  <cp:revision>4</cp:revision>
  <dcterms:created xsi:type="dcterms:W3CDTF">2020-04-27T16:33:37Z</dcterms:created>
  <dcterms:modified xsi:type="dcterms:W3CDTF">2020-04-29T05:36:51Z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2020-04-27T00:00:00Z</vt:filetime>
  </property>
</Properties>
</file>